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6" r:id="rId1"/>
  </p:sldMasterIdLst>
  <p:sldIdLst>
    <p:sldId id="267" r:id="rId2"/>
    <p:sldId id="285" r:id="rId3"/>
    <p:sldId id="276" r:id="rId4"/>
    <p:sldId id="277" r:id="rId5"/>
    <p:sldId id="278" r:id="rId6"/>
    <p:sldId id="273" r:id="rId7"/>
    <p:sldId id="310" r:id="rId8"/>
    <p:sldId id="292" r:id="rId9"/>
    <p:sldId id="293" r:id="rId10"/>
    <p:sldId id="306" r:id="rId11"/>
    <p:sldId id="314" r:id="rId12"/>
    <p:sldId id="307" r:id="rId13"/>
    <p:sldId id="279" r:id="rId14"/>
    <p:sldId id="291" r:id="rId15"/>
    <p:sldId id="336" r:id="rId16"/>
    <p:sldId id="308" r:id="rId17"/>
    <p:sldId id="274" r:id="rId18"/>
    <p:sldId id="275" r:id="rId19"/>
    <p:sldId id="309" r:id="rId20"/>
    <p:sldId id="321" r:id="rId21"/>
    <p:sldId id="282" r:id="rId22"/>
    <p:sldId id="317" r:id="rId23"/>
    <p:sldId id="290" r:id="rId24"/>
    <p:sldId id="316" r:id="rId25"/>
    <p:sldId id="322" r:id="rId26"/>
    <p:sldId id="323" r:id="rId27"/>
    <p:sldId id="324" r:id="rId28"/>
    <p:sldId id="330" r:id="rId29"/>
    <p:sldId id="331" r:id="rId30"/>
    <p:sldId id="326" r:id="rId31"/>
    <p:sldId id="327" r:id="rId32"/>
    <p:sldId id="328" r:id="rId33"/>
    <p:sldId id="329" r:id="rId34"/>
    <p:sldId id="325" r:id="rId35"/>
    <p:sldId id="339" r:id="rId36"/>
    <p:sldId id="340" r:id="rId37"/>
    <p:sldId id="335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7B2BB1-F31F-9733-E28D-8ABF36C1743E}" name="Micael Antunes da Silva" initials="MA" userId="6d23ece04d3a84f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3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4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9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1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8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8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2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4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9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56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50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7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73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16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8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07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lis-lab.fr/micael.antunes/demovaebar-choro.git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lis-lab.fr/micael.antunes/demovaebar-choro.gi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lab.lis-lab.fr/micael.antunes/demovaebar-choro.git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lis-lab.fr/micael.antunes/demovaebar-choro.gi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media" Target="../media/media2.mp3"/><Relationship Id="rId7" Type="http://schemas.openxmlformats.org/officeDocument/2006/relationships/image" Target="../media/image1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Relationship Id="rId9" Type="http://schemas.openxmlformats.org/officeDocument/2006/relationships/hyperlink" Target="https://gitlab.lis-lab.fr/micael.antunes/demovaebar-choro.git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vy staircases">
            <a:extLst>
              <a:ext uri="{FF2B5EF4-FFF2-40B4-BE49-F238E27FC236}">
                <a16:creationId xmlns:a16="http://schemas.microsoft.com/office/drawing/2014/main" id="{8A3C670F-1878-48A9-008E-020EE7D2F8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469598-BD8E-8E86-29DA-8E2A4411B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417" y="1828800"/>
            <a:ext cx="6507166" cy="32004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i="1" dirty="0"/>
              <a:t>TEMA-S</a:t>
            </a:r>
            <a:r>
              <a:rPr lang="en-US" dirty="0"/>
              <a:t>: Prototype of a Texture-based Environment for Assisted Symbolic Musical Composition</a:t>
            </a:r>
          </a:p>
        </p:txBody>
      </p:sp>
    </p:spTree>
    <p:extLst>
      <p:ext uri="{BB962C8B-B14F-4D97-AF65-F5344CB8AC3E}">
        <p14:creationId xmlns:p14="http://schemas.microsoft.com/office/powerpoint/2010/main" val="17405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9BA26BC-113C-4698-8859-A985C832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A68B73B6-D77B-4B55-8538-206CEFD2A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7666" y="1846512"/>
            <a:ext cx="6748668" cy="3164976"/>
          </a:xfrm>
          <a:prstGeom prst="roundRect">
            <a:avLst>
              <a:gd name="adj" fmla="val 4629"/>
            </a:avLst>
          </a:prstGeom>
          <a:solidFill>
            <a:schemeClr val="bg2"/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19379-1381-C330-9364-61BE785DF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59" y="2007703"/>
            <a:ext cx="6507166" cy="1802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48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Le contexte</a:t>
            </a:r>
          </a:p>
        </p:txBody>
      </p:sp>
    </p:spTree>
    <p:extLst>
      <p:ext uri="{BB962C8B-B14F-4D97-AF65-F5344CB8AC3E}">
        <p14:creationId xmlns:p14="http://schemas.microsoft.com/office/powerpoint/2010/main" val="195469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DB01-BFC8-CB9D-4DCD-63F752F0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35" y="144354"/>
            <a:ext cx="8474148" cy="1312480"/>
          </a:xfrm>
        </p:spPr>
        <p:txBody>
          <a:bodyPr/>
          <a:lstStyle/>
          <a:p>
            <a:r>
              <a:rPr lang="fr-FR" dirty="0"/>
              <a:t>Deux approches de composition assistée par ordinateur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827A3-0142-BB2A-A112-3803CC0A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917" y="1330178"/>
            <a:ext cx="4269503" cy="746872"/>
          </a:xfrm>
        </p:spPr>
        <p:txBody>
          <a:bodyPr/>
          <a:lstStyle/>
          <a:p>
            <a:r>
              <a:rPr lang="fr-FR" b="1" dirty="0"/>
              <a:t>CAC basé sur la partition (Score-</a:t>
            </a:r>
            <a:r>
              <a:rPr lang="fr-FR" b="1" dirty="0" err="1"/>
              <a:t>Based</a:t>
            </a:r>
            <a:r>
              <a:rPr lang="fr-FR" b="1" dirty="0"/>
              <a:t> CAC)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E47E2-C5E8-67AE-1D69-A01C4C33B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917" y="2211789"/>
            <a:ext cx="4264472" cy="240274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Fondé sur des </a:t>
            </a:r>
            <a:r>
              <a:rPr lang="fr-FR" b="1" dirty="0"/>
              <a:t>représentations symboliques</a:t>
            </a:r>
            <a:r>
              <a:rPr lang="fr-FR" dirty="0"/>
              <a:t> (partitions, encodages structurels)</a:t>
            </a:r>
          </a:p>
          <a:p>
            <a:r>
              <a:rPr lang="fr-FR" dirty="0"/>
              <a:t>Interaction via des </a:t>
            </a:r>
            <a:r>
              <a:rPr lang="fr-FR" b="1" dirty="0"/>
              <a:t>opérations musicales formalisées</a:t>
            </a:r>
            <a:endParaRPr lang="fr-FR" dirty="0"/>
          </a:p>
          <a:p>
            <a:r>
              <a:rPr lang="fr-FR" dirty="0"/>
              <a:t>Accent sur le </a:t>
            </a:r>
            <a:r>
              <a:rPr lang="fr-FR" b="1" dirty="0"/>
              <a:t>contrôle structurel</a:t>
            </a:r>
            <a:endParaRPr lang="fr-FR" dirty="0"/>
          </a:p>
          <a:p>
            <a:r>
              <a:rPr lang="fr-FR" dirty="0"/>
              <a:t>Exemples : </a:t>
            </a:r>
            <a:r>
              <a:rPr lang="fr-FR" i="1" dirty="0"/>
              <a:t>orchestration, texture, transformations </a:t>
            </a:r>
            <a:r>
              <a:rPr lang="fr-FR" i="1" dirty="0" err="1"/>
              <a:t>motiviques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6EF13-EF34-D812-673F-CAEFC6AF5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4485" y="1322352"/>
            <a:ext cx="4111291" cy="746871"/>
          </a:xfrm>
        </p:spPr>
        <p:txBody>
          <a:bodyPr/>
          <a:lstStyle/>
          <a:p>
            <a:r>
              <a:rPr lang="fr-FR" b="1" dirty="0"/>
              <a:t>IA musicale à partir de prompts (Prompt-to-Music AI)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CBB4E-305F-EAF1-13C2-73EAC2A45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3268" y="2219615"/>
            <a:ext cx="4382508" cy="216099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fr-FR" dirty="0"/>
              <a:t>Basé sur des </a:t>
            </a:r>
            <a:r>
              <a:rPr lang="fr-FR" b="1" dirty="0"/>
              <a:t>instructions textuelles</a:t>
            </a:r>
            <a:r>
              <a:rPr lang="fr-FR" dirty="0"/>
              <a:t> (</a:t>
            </a:r>
            <a:r>
              <a:rPr lang="fr-FR" dirty="0" err="1"/>
              <a:t>language</a:t>
            </a:r>
            <a:r>
              <a:rPr lang="fr-FR" dirty="0"/>
              <a:t> naturel)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Génération automatisée à partir de </a:t>
            </a:r>
            <a:r>
              <a:rPr lang="fr-FR" b="1" dirty="0"/>
              <a:t>descriptions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Moins de contrôle direct, processus souvent </a:t>
            </a:r>
            <a:r>
              <a:rPr lang="fr-FR" b="1" dirty="0"/>
              <a:t>opaque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Exemples : </a:t>
            </a:r>
            <a:r>
              <a:rPr lang="fr-FR" i="1" dirty="0"/>
              <a:t>MIDI-GPT, </a:t>
            </a:r>
            <a:r>
              <a:rPr lang="fr-FR" i="1" dirty="0" err="1"/>
              <a:t>ComposerX</a:t>
            </a:r>
            <a:endParaRPr lang="fr-F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diagram of a machine learning process&#10;&#10;Description automatically generated">
            <a:extLst>
              <a:ext uri="{FF2B5EF4-FFF2-40B4-BE49-F238E27FC236}">
                <a16:creationId xmlns:a16="http://schemas.microsoft.com/office/drawing/2014/main" id="{A43CB2BA-9849-22EB-0A2D-D912A7BE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14530"/>
            <a:ext cx="7772400" cy="196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3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732-B6C2-4B11-C0C6-004453F2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714375"/>
            <a:ext cx="2922006" cy="5076826"/>
          </a:xfrm>
        </p:spPr>
        <p:txBody>
          <a:bodyPr anchor="ctr">
            <a:normAutofit/>
          </a:bodyPr>
          <a:lstStyle/>
          <a:p>
            <a:r>
              <a:rPr lang="fr-FR" sz="3500" b="1" dirty="0"/>
              <a:t>Limites des modèles basés sur les Large </a:t>
            </a:r>
            <a:r>
              <a:rPr lang="fr-FR" sz="3500" b="1" dirty="0" err="1"/>
              <a:t>Language</a:t>
            </a:r>
            <a:r>
              <a:rPr lang="fr-FR" sz="3500" b="1" dirty="0"/>
              <a:t> </a:t>
            </a:r>
            <a:r>
              <a:rPr lang="fr-FR" sz="3500" b="1" dirty="0" err="1"/>
              <a:t>models</a:t>
            </a:r>
            <a:r>
              <a:rPr lang="fr-FR" sz="3500" b="1" dirty="0"/>
              <a:t> (LLM)</a:t>
            </a:r>
            <a:br>
              <a:rPr lang="fr-FR" sz="3500" dirty="0"/>
            </a:br>
            <a:endParaRPr lang="fr-FR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407B-3E79-B2C2-3755-62A3BE531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304" y="392430"/>
            <a:ext cx="5654246" cy="5398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approches </a:t>
            </a:r>
            <a:r>
              <a:rPr lang="fr-FR" sz="2400" b="1" dirty="0"/>
              <a:t>Prompt-to-Music</a:t>
            </a:r>
            <a:r>
              <a:rPr lang="fr-FR" sz="2400" dirty="0"/>
              <a:t> basées sur des LLM (ex. </a:t>
            </a:r>
            <a:r>
              <a:rPr lang="fr-FR" sz="2400" i="1" dirty="0" err="1"/>
              <a:t>ComposerX</a:t>
            </a:r>
            <a:r>
              <a:rPr lang="fr-FR" sz="2400" dirty="0"/>
              <a:t>, </a:t>
            </a:r>
            <a:r>
              <a:rPr lang="fr-FR" sz="2400" i="1" dirty="0"/>
              <a:t>MIDI-GPT</a:t>
            </a:r>
            <a:r>
              <a:rPr lang="fr-FR" sz="2400" dirty="0"/>
              <a:t>) offrent une grande puissance de génération, mais </a:t>
            </a:r>
            <a:r>
              <a:rPr lang="fr-FR" sz="2400" b="1" dirty="0"/>
              <a:t>sans espace latent interprétable </a:t>
            </a:r>
            <a:r>
              <a:rPr lang="fr-FR" sz="2400" dirty="0"/>
              <a:t>— pourtant essentiel pour manipuler des dimensions musicales telles que la texture, dans une logique compositionnelle informée.</a:t>
            </a:r>
            <a:endParaRPr lang="fr-FR" sz="2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77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CB50-217D-3A8E-A0AC-425DA9DB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D1A2-CE17-61B5-7959-7D47925F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06545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fr-FR" sz="2200" b="1" dirty="0">
                <a:solidFill>
                  <a:srgbClr val="BFBFBF"/>
                </a:solidFill>
              </a:rPr>
              <a:t>Une alternative complémentaire</a:t>
            </a:r>
            <a:br>
              <a:rPr lang="fr-FR" sz="2200" b="1" dirty="0">
                <a:solidFill>
                  <a:srgbClr val="BFBFBF"/>
                </a:solidFill>
              </a:rPr>
            </a:br>
            <a:br>
              <a:rPr lang="fr-FR" sz="2200" b="1" dirty="0">
                <a:solidFill>
                  <a:srgbClr val="BFBFBF"/>
                </a:solidFill>
              </a:rPr>
            </a:br>
            <a:endParaRPr lang="fr-FR" sz="2200" b="1" dirty="0">
              <a:solidFill>
                <a:srgbClr val="BFBFB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523BC-2067-026A-643C-90D8416B0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666999"/>
            <a:ext cx="7429499" cy="31242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800" b="1" dirty="0"/>
              <a:t>TEMA-S</a:t>
            </a:r>
            <a:r>
              <a:rPr lang="fr-FR" sz="2800" dirty="0"/>
              <a:t> propose une </a:t>
            </a:r>
            <a:r>
              <a:rPr lang="fr-FR" sz="2800" b="1" dirty="0"/>
              <a:t>alternative complémentaire</a:t>
            </a:r>
            <a:r>
              <a:rPr lang="fr-FR" sz="2800" dirty="0"/>
              <a:t>, fondée sur ce que nous appelons </a:t>
            </a:r>
            <a:r>
              <a:rPr lang="fr-FR" sz="2800" b="1" dirty="0"/>
              <a:t>l’IA guidée par la théorie musicale</a:t>
            </a:r>
            <a:r>
              <a:rPr lang="fr-FR" sz="2800" dirty="0"/>
              <a:t> : des modèles où la </a:t>
            </a:r>
            <a:r>
              <a:rPr lang="fr-FR" sz="2800" b="1" dirty="0"/>
              <a:t>structure musicale</a:t>
            </a:r>
            <a:r>
              <a:rPr lang="fr-FR" sz="2800" dirty="0"/>
              <a:t> guide l’apprentissage et la génération, à travers des espaces </a:t>
            </a:r>
            <a:r>
              <a:rPr lang="fr-FR" sz="2800" b="1" dirty="0"/>
              <a:t>compacts, interprétables et musicalement cohérents</a:t>
            </a:r>
            <a:r>
              <a:rPr lang="fr-FR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8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0237F-E695-24CA-6640-4EB68B16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065451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BFBFBF"/>
                </a:solidFill>
              </a:rPr>
              <a:t>TEMA-S – Textural-based environment for symbolic music assitance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8233-7C03-80E2-7AFD-BC3656B2B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2360428"/>
            <a:ext cx="8654902" cy="414669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sz="2000" b="1" dirty="0"/>
              <a:t>Caractère innovant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Un </a:t>
            </a:r>
            <a:r>
              <a:rPr lang="en-US" sz="2000" dirty="0" err="1"/>
              <a:t>outil</a:t>
            </a:r>
            <a:r>
              <a:rPr lang="en-US" sz="2000" dirty="0"/>
              <a:t> </a:t>
            </a:r>
            <a:r>
              <a:rPr lang="en-US" sz="2000" b="1" dirty="0" err="1"/>
              <a:t>symbolique</a:t>
            </a:r>
            <a:r>
              <a:rPr lang="en-US" sz="2000" dirty="0"/>
              <a:t> de composition (Score-based CAC)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Centré</a:t>
            </a:r>
            <a:r>
              <a:rPr lang="en-US" sz="2000" dirty="0"/>
              <a:t> sur la notion de </a:t>
            </a:r>
            <a:r>
              <a:rPr lang="en-US" sz="2000" b="1" dirty="0"/>
              <a:t>texture musicale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S’appuie</a:t>
            </a:r>
            <a:r>
              <a:rPr lang="en-US" sz="2000" dirty="0"/>
              <a:t> sur des </a:t>
            </a:r>
            <a:r>
              <a:rPr lang="en-US" sz="2000" b="1" dirty="0" err="1"/>
              <a:t>autoencodeurs</a:t>
            </a:r>
            <a:r>
              <a:rPr lang="en-US" sz="2000" b="1" dirty="0"/>
              <a:t> </a:t>
            </a:r>
            <a:r>
              <a:rPr lang="en-US" sz="2000" b="1" dirty="0" err="1"/>
              <a:t>variationnels</a:t>
            </a:r>
            <a:r>
              <a:rPr lang="en-US" sz="2000" b="1" dirty="0"/>
              <a:t> (VAE)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 err="1"/>
              <a:t>Permet</a:t>
            </a:r>
            <a:r>
              <a:rPr lang="en-US" sz="2000" dirty="0"/>
              <a:t> des </a:t>
            </a:r>
            <a:r>
              <a:rPr lang="en-US" sz="2000" b="1" dirty="0" err="1"/>
              <a:t>opérations</a:t>
            </a:r>
            <a:r>
              <a:rPr lang="en-US" sz="2000" b="1" dirty="0"/>
              <a:t> </a:t>
            </a:r>
            <a:r>
              <a:rPr lang="en-US" sz="2000" b="1" dirty="0" err="1"/>
              <a:t>interprétables</a:t>
            </a:r>
            <a:r>
              <a:rPr lang="en-US" sz="2000" dirty="0"/>
              <a:t> dans </a:t>
            </a:r>
            <a:r>
              <a:rPr lang="en-US" sz="2000" dirty="0" err="1"/>
              <a:t>l’espace</a:t>
            </a:r>
            <a:r>
              <a:rPr lang="en-US" sz="2000" dirty="0"/>
              <a:t> latent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Favorise</a:t>
            </a:r>
            <a:r>
              <a:rPr lang="en-US" sz="2000" dirty="0"/>
              <a:t> </a:t>
            </a:r>
            <a:r>
              <a:rPr lang="en-US" sz="2000" dirty="0" err="1"/>
              <a:t>une</a:t>
            </a:r>
            <a:r>
              <a:rPr lang="en-US" sz="2000" dirty="0"/>
              <a:t> </a:t>
            </a:r>
            <a:r>
              <a:rPr lang="en-US" sz="2000" b="1" dirty="0"/>
              <a:t>co-</a:t>
            </a:r>
            <a:r>
              <a:rPr lang="en-US" sz="2000" b="1" dirty="0" err="1"/>
              <a:t>création</a:t>
            </a:r>
            <a:r>
              <a:rPr lang="en-US" sz="2000" b="1" dirty="0"/>
              <a:t> </a:t>
            </a:r>
            <a:r>
              <a:rPr lang="en-US" sz="2000" b="1" dirty="0" err="1"/>
              <a:t>humain</a:t>
            </a:r>
            <a:r>
              <a:rPr lang="en-US" sz="2000" b="1" dirty="0"/>
              <a:t>–IA </a:t>
            </a:r>
            <a:r>
              <a:rPr lang="en-US" sz="2400" dirty="0"/>
              <a:t>sur des choix </a:t>
            </a:r>
            <a:r>
              <a:rPr lang="en-US" sz="2400" dirty="0" err="1"/>
              <a:t>musicaux</a:t>
            </a:r>
            <a:r>
              <a:rPr lang="en-US" sz="2400" dirty="0"/>
              <a:t> </a:t>
            </a:r>
            <a:r>
              <a:rPr lang="en-US" sz="2400" dirty="0" err="1"/>
              <a:t>explicites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73439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0F84B-BF66-4994-690F-B126DF39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A23AB8-8EAC-1C2D-9471-4D05FE3F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17436B-9019-F4BE-B5FC-7547C6D16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63A40-922C-E9D6-A088-10DAE277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065451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BFBFBF"/>
                </a:solidFill>
              </a:rPr>
              <a:t>TEMA-S – Textural-based environment for symbolic music assitance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13A10-0373-4644-8085-D5DA02E5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2360428"/>
            <a:ext cx="8654902" cy="414669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sz="2800" b="1" dirty="0"/>
              <a:t>Caractère innovant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2800" b="1" i="1" dirty="0"/>
              <a:t>TEMA-S</a:t>
            </a:r>
            <a:r>
              <a:rPr lang="fr-FR" sz="2800" dirty="0"/>
              <a:t> ne se limite pas à générer de la musique : il crée les conditions d’une </a:t>
            </a:r>
            <a:r>
              <a:rPr lang="fr-FR" sz="2800" b="1" dirty="0" err="1"/>
              <a:t>co-création</a:t>
            </a:r>
            <a:r>
              <a:rPr lang="fr-FR" sz="2800" b="1" dirty="0"/>
              <a:t> humain–IA </a:t>
            </a:r>
            <a:r>
              <a:rPr lang="fr-FR" sz="2800" dirty="0"/>
              <a:t>informée, en offrant de </a:t>
            </a:r>
            <a:r>
              <a:rPr lang="fr-FR" sz="2800" b="1" dirty="0"/>
              <a:t>nouvelles affordances </a:t>
            </a:r>
            <a:r>
              <a:rPr lang="fr-FR" sz="2800" dirty="0"/>
              <a:t>pour une transformation compréhensible et guidée des textures musicales, issues de la rencontre entre la tradition de la </a:t>
            </a:r>
            <a:r>
              <a:rPr lang="fr-FR" sz="2800" b="1" dirty="0"/>
              <a:t>composition assistée par ordinateur (CAC) </a:t>
            </a:r>
            <a:r>
              <a:rPr lang="fr-FR" sz="2800" dirty="0"/>
              <a:t>et les outils d’</a:t>
            </a:r>
            <a:r>
              <a:rPr lang="fr-FR" sz="2800" b="1" dirty="0"/>
              <a:t>intelligence</a:t>
            </a:r>
            <a:r>
              <a:rPr lang="fr-FR" sz="2800" dirty="0"/>
              <a:t> </a:t>
            </a:r>
            <a:r>
              <a:rPr lang="fr-FR" sz="2800" b="1" dirty="0"/>
              <a:t>artificielle</a:t>
            </a:r>
            <a:r>
              <a:rPr lang="fr-FR" sz="2800" dirty="0"/>
              <a:t> émergents.</a:t>
            </a:r>
          </a:p>
        </p:txBody>
      </p:sp>
    </p:spTree>
    <p:extLst>
      <p:ext uri="{BB962C8B-B14F-4D97-AF65-F5344CB8AC3E}">
        <p14:creationId xmlns:p14="http://schemas.microsoft.com/office/powerpoint/2010/main" val="1544439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9985-1FA8-6355-4151-65650234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4AC7-30C0-AE8F-D731-E25947F4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417" y="2366931"/>
            <a:ext cx="6507166" cy="1802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48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Le Cadre conceptuel</a:t>
            </a:r>
          </a:p>
        </p:txBody>
      </p:sp>
    </p:spTree>
    <p:extLst>
      <p:ext uri="{BB962C8B-B14F-4D97-AF65-F5344CB8AC3E}">
        <p14:creationId xmlns:p14="http://schemas.microsoft.com/office/powerpoint/2010/main" val="583110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75BDF4-FA09-E9BA-3F55-CB184811F476}"/>
              </a:ext>
            </a:extLst>
          </p:cNvPr>
          <p:cNvSpPr/>
          <p:nvPr/>
        </p:nvSpPr>
        <p:spPr>
          <a:xfrm>
            <a:off x="1419446" y="1329071"/>
            <a:ext cx="5874489" cy="435934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ysClr val="windowText" lastClr="000000"/>
                </a:solidFill>
              </a:rPr>
              <a:t>Exploratory creativity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627F4E-E2AC-236C-A455-61E49D940D34}"/>
              </a:ext>
            </a:extLst>
          </p:cNvPr>
          <p:cNvSpPr/>
          <p:nvPr/>
        </p:nvSpPr>
        <p:spPr>
          <a:xfrm>
            <a:off x="1991478" y="1930723"/>
            <a:ext cx="4699591" cy="34874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/>
              <a:t>Score-based CAC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A583F8-AE47-FF35-FAC6-958C47D6472E}"/>
              </a:ext>
            </a:extLst>
          </p:cNvPr>
          <p:cNvSpPr/>
          <p:nvPr/>
        </p:nvSpPr>
        <p:spPr>
          <a:xfrm>
            <a:off x="2277495" y="2565487"/>
            <a:ext cx="4112142" cy="2615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chemeClr val="bg1"/>
                </a:solidFill>
              </a:rPr>
              <a:t>Music theory AI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F82AB6-785F-4026-C3B9-15936B975104}"/>
              </a:ext>
            </a:extLst>
          </p:cNvPr>
          <p:cNvSpPr/>
          <p:nvPr/>
        </p:nvSpPr>
        <p:spPr>
          <a:xfrm>
            <a:off x="2563510" y="3156965"/>
            <a:ext cx="3524693" cy="1743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/>
              <a:t>Musical texture</a:t>
            </a:r>
          </a:p>
        </p:txBody>
      </p:sp>
    </p:spTree>
    <p:extLst>
      <p:ext uri="{BB962C8B-B14F-4D97-AF65-F5344CB8AC3E}">
        <p14:creationId xmlns:p14="http://schemas.microsoft.com/office/powerpoint/2010/main" val="176094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7570-17C2-A2C7-3C74-DBA71A3B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71A75A-C8D9-B165-E33C-D7495937F83B}"/>
              </a:ext>
            </a:extLst>
          </p:cNvPr>
          <p:cNvSpPr/>
          <p:nvPr/>
        </p:nvSpPr>
        <p:spPr>
          <a:xfrm>
            <a:off x="1419446" y="1329071"/>
            <a:ext cx="5874489" cy="435934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ysClr val="windowText" lastClr="000000"/>
                </a:solidFill>
              </a:rPr>
              <a:t>Exploratory creativity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0ACA82-7D5E-CAA1-81C9-A7B134B5071C}"/>
              </a:ext>
            </a:extLst>
          </p:cNvPr>
          <p:cNvSpPr/>
          <p:nvPr/>
        </p:nvSpPr>
        <p:spPr>
          <a:xfrm>
            <a:off x="1991478" y="1930723"/>
            <a:ext cx="4699591" cy="34874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/>
              <a:t>Score-based CAC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CE40FE-B11E-AE94-F7BA-B5A5DE60AF23}"/>
              </a:ext>
            </a:extLst>
          </p:cNvPr>
          <p:cNvSpPr/>
          <p:nvPr/>
        </p:nvSpPr>
        <p:spPr>
          <a:xfrm>
            <a:off x="2277495" y="2565487"/>
            <a:ext cx="4112142" cy="2615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chemeClr val="bg1"/>
                </a:solidFill>
              </a:rPr>
              <a:t>Music theory AI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6F4A51-317D-CBD5-5EBA-A3C18CA1EBAC}"/>
              </a:ext>
            </a:extLst>
          </p:cNvPr>
          <p:cNvSpPr/>
          <p:nvPr/>
        </p:nvSpPr>
        <p:spPr>
          <a:xfrm>
            <a:off x="2563510" y="3156965"/>
            <a:ext cx="3524693" cy="1743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/>
              <a:t>Musical texture</a:t>
            </a:r>
          </a:p>
        </p:txBody>
      </p:sp>
    </p:spTree>
    <p:extLst>
      <p:ext uri="{BB962C8B-B14F-4D97-AF65-F5344CB8AC3E}">
        <p14:creationId xmlns:p14="http://schemas.microsoft.com/office/powerpoint/2010/main" val="225539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9387-1501-8AA8-40FE-7001AA8B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Score-based CAC</a:t>
            </a:r>
          </a:p>
        </p:txBody>
      </p:sp>
      <p:pic>
        <p:nvPicPr>
          <p:cNvPr id="4" name="Picture 3" descr="A diagram of a machine learning process&#10;&#10;Description automatically generated">
            <a:extLst>
              <a:ext uri="{FF2B5EF4-FFF2-40B4-BE49-F238E27FC236}">
                <a16:creationId xmlns:a16="http://schemas.microsoft.com/office/drawing/2014/main" id="{AE45CEC2-636D-0763-C8B8-6371EBE68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13"/>
          <a:stretch/>
        </p:blipFill>
        <p:spPr>
          <a:xfrm>
            <a:off x="94809" y="2893850"/>
            <a:ext cx="8954382" cy="10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6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6D952-9EBC-F502-41DA-D084A34F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88EF1B-AD44-5162-3DD5-B34B62C92A1A}"/>
              </a:ext>
            </a:extLst>
          </p:cNvPr>
          <p:cNvSpPr/>
          <p:nvPr/>
        </p:nvSpPr>
        <p:spPr>
          <a:xfrm>
            <a:off x="1419446" y="1329071"/>
            <a:ext cx="5874489" cy="435934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ysClr val="windowText" lastClr="000000"/>
                </a:solidFill>
              </a:rPr>
              <a:t>Exploratory creativity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06F942-F6F9-F700-58EB-65314447F942}"/>
              </a:ext>
            </a:extLst>
          </p:cNvPr>
          <p:cNvSpPr/>
          <p:nvPr/>
        </p:nvSpPr>
        <p:spPr>
          <a:xfrm>
            <a:off x="1991478" y="1930723"/>
            <a:ext cx="4699591" cy="34874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/>
              <a:t>Score-based CAC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631304-9809-7F47-9C63-9F6CBCF62FF6}"/>
              </a:ext>
            </a:extLst>
          </p:cNvPr>
          <p:cNvSpPr/>
          <p:nvPr/>
        </p:nvSpPr>
        <p:spPr>
          <a:xfrm>
            <a:off x="2277495" y="2565487"/>
            <a:ext cx="4112142" cy="2615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chemeClr val="bg1"/>
                </a:solidFill>
              </a:rPr>
              <a:t>Music theory AI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6B1F60-F6F4-FF45-6B76-17C275555A9A}"/>
              </a:ext>
            </a:extLst>
          </p:cNvPr>
          <p:cNvSpPr/>
          <p:nvPr/>
        </p:nvSpPr>
        <p:spPr>
          <a:xfrm>
            <a:off x="2563510" y="3156965"/>
            <a:ext cx="3524693" cy="1743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/>
              <a:t>Musical texture</a:t>
            </a:r>
          </a:p>
        </p:txBody>
      </p:sp>
    </p:spTree>
    <p:extLst>
      <p:ext uri="{BB962C8B-B14F-4D97-AF65-F5344CB8AC3E}">
        <p14:creationId xmlns:p14="http://schemas.microsoft.com/office/powerpoint/2010/main" val="9330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4CF-7A14-F378-14B3-18407701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065451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BFBFBF"/>
                </a:solidFill>
              </a:rPr>
              <a:t>l’interprétabilité des dimensions musicales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F7A5-1B15-8F2D-6A23-5EF5FA54A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59" y="2666999"/>
            <a:ext cx="7429499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que les compositeurs puissent </a:t>
            </a:r>
            <a:r>
              <a:rPr lang="fr-FR" b="1" dirty="0"/>
              <a:t>contrôler </a:t>
            </a:r>
            <a:r>
              <a:rPr lang="fr-FR" dirty="0"/>
              <a:t>un modèle génératif, les différentes </a:t>
            </a:r>
            <a:r>
              <a:rPr lang="fr-FR" b="1" dirty="0"/>
              <a:t>dimensions musicales</a:t>
            </a:r>
            <a:r>
              <a:rPr lang="fr-FR" dirty="0"/>
              <a:t> (comme la hauteur ou le rythme) doivent être </a:t>
            </a:r>
            <a:r>
              <a:rPr lang="fr-FR" b="1" dirty="0"/>
              <a:t>représentées séparément</a:t>
            </a:r>
            <a:r>
              <a:rPr lang="fr-FR" dirty="0"/>
              <a:t> et de manière </a:t>
            </a:r>
            <a:r>
              <a:rPr lang="fr-FR" b="1" dirty="0"/>
              <a:t>compréhensible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00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F220-14F2-8BEE-6601-24B20759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69" y="647853"/>
            <a:ext cx="7772400" cy="1008169"/>
          </a:xfrm>
        </p:spPr>
        <p:txBody>
          <a:bodyPr>
            <a:normAutofit/>
          </a:bodyPr>
          <a:lstStyle/>
          <a:p>
            <a:r>
              <a:rPr lang="fr-FR" b="1" dirty="0"/>
              <a:t>VAE - </a:t>
            </a:r>
            <a:r>
              <a:rPr lang="fr-FR" sz="2800" b="1" dirty="0" err="1"/>
              <a:t>autoencodeurs</a:t>
            </a:r>
            <a:r>
              <a:rPr lang="fr-FR" sz="2800" b="1" dirty="0"/>
              <a:t> </a:t>
            </a:r>
            <a:r>
              <a:rPr lang="fr-FR" sz="2800" b="1" dirty="0" err="1"/>
              <a:t>variationnels</a:t>
            </a:r>
            <a:endParaRPr lang="fr-FR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6418AD-673D-EF9F-8B05-D885056E313E}"/>
              </a:ext>
            </a:extLst>
          </p:cNvPr>
          <p:cNvSpPr/>
          <p:nvPr/>
        </p:nvSpPr>
        <p:spPr>
          <a:xfrm>
            <a:off x="3861303" y="3249000"/>
            <a:ext cx="1440000" cy="1440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Espace latent 𝒛</a:t>
            </a:r>
          </a:p>
        </p:txBody>
      </p:sp>
      <p:sp>
        <p:nvSpPr>
          <p:cNvPr id="9" name="Snip Same Side Corner Rectangle 8">
            <a:extLst>
              <a:ext uri="{FF2B5EF4-FFF2-40B4-BE49-F238E27FC236}">
                <a16:creationId xmlns:a16="http://schemas.microsoft.com/office/drawing/2014/main" id="{2EF9A2D3-BB5A-F197-E6DA-9D5332EC8775}"/>
              </a:ext>
            </a:extLst>
          </p:cNvPr>
          <p:cNvSpPr/>
          <p:nvPr/>
        </p:nvSpPr>
        <p:spPr>
          <a:xfrm rot="5400000">
            <a:off x="2198116" y="3336132"/>
            <a:ext cx="1080000" cy="1265738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dirty="0"/>
              <a:t>Encodeur</a:t>
            </a: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3659E77E-0BB4-A2D9-2649-39F5345B2DB0}"/>
              </a:ext>
            </a:extLst>
          </p:cNvPr>
          <p:cNvSpPr/>
          <p:nvPr/>
        </p:nvSpPr>
        <p:spPr>
          <a:xfrm rot="16200000">
            <a:off x="5928242" y="3249001"/>
            <a:ext cx="1080000" cy="1440000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dirty="0"/>
              <a:t>Décodeur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E6A279-6FCD-EA98-52FA-1AADC95C1346}"/>
              </a:ext>
            </a:extLst>
          </p:cNvPr>
          <p:cNvSpPr/>
          <p:nvPr/>
        </p:nvSpPr>
        <p:spPr>
          <a:xfrm>
            <a:off x="331657" y="3560373"/>
            <a:ext cx="1031358" cy="9068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MIDI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5FA83D-DDEC-F13A-1973-7641DBD23A34}"/>
              </a:ext>
            </a:extLst>
          </p:cNvPr>
          <p:cNvSpPr/>
          <p:nvPr/>
        </p:nvSpPr>
        <p:spPr>
          <a:xfrm>
            <a:off x="7782800" y="3560373"/>
            <a:ext cx="1265738" cy="9068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MIDI</a:t>
            </a:r>
          </a:p>
          <a:p>
            <a:pPr algn="ctr"/>
            <a:r>
              <a:rPr lang="en-US" dirty="0"/>
              <a:t>(recons</a:t>
            </a:r>
          </a:p>
          <a:p>
            <a:pPr algn="ctr"/>
            <a:r>
              <a:rPr lang="en-US" dirty="0" err="1"/>
              <a:t>truction</a:t>
            </a:r>
            <a:r>
              <a:rPr lang="en-US" dirty="0"/>
              <a:t>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9B48E0-5870-FD24-6BF0-13AD6BD8D06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363015" y="4013785"/>
            <a:ext cx="75153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0F0A17-9B57-B1A8-D416-4BC0BA9FCFCF}"/>
              </a:ext>
            </a:extLst>
          </p:cNvPr>
          <p:cNvCxnSpPr>
            <a:cxnSpLocks/>
          </p:cNvCxnSpPr>
          <p:nvPr/>
        </p:nvCxnSpPr>
        <p:spPr>
          <a:xfrm>
            <a:off x="3380288" y="4013785"/>
            <a:ext cx="4717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3D0DF1-CDC3-2BD1-71C2-E503FA5611DE}"/>
              </a:ext>
            </a:extLst>
          </p:cNvPr>
          <p:cNvCxnSpPr>
            <a:cxnSpLocks/>
          </p:cNvCxnSpPr>
          <p:nvPr/>
        </p:nvCxnSpPr>
        <p:spPr>
          <a:xfrm>
            <a:off x="5301303" y="4013784"/>
            <a:ext cx="462409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EEA7BD-AE64-F196-FCFD-5B4F5C08AEE9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03712" y="4013783"/>
            <a:ext cx="57908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1A24DA0-3845-D5C8-5932-B280178C7040}"/>
              </a:ext>
            </a:extLst>
          </p:cNvPr>
          <p:cNvSpPr txBox="1"/>
          <p:nvPr/>
        </p:nvSpPr>
        <p:spPr>
          <a:xfrm>
            <a:off x="741010" y="1936278"/>
            <a:ext cx="7674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 </a:t>
            </a:r>
            <a:r>
              <a:rPr lang="en-US" b="1" dirty="0"/>
              <a:t>VAE</a:t>
            </a:r>
            <a:r>
              <a:rPr lang="en-US" dirty="0"/>
              <a:t> </a:t>
            </a:r>
            <a:r>
              <a:rPr lang="en-US" dirty="0" err="1"/>
              <a:t>utilise</a:t>
            </a:r>
            <a:r>
              <a:rPr lang="en-US" dirty="0"/>
              <a:t> des </a:t>
            </a:r>
            <a:r>
              <a:rPr lang="en-US" b="1" dirty="0" err="1"/>
              <a:t>réseaux</a:t>
            </a:r>
            <a:r>
              <a:rPr lang="en-US" b="1" dirty="0"/>
              <a:t> </a:t>
            </a:r>
            <a:r>
              <a:rPr lang="en-US" b="1" dirty="0" err="1"/>
              <a:t>neuronaux</a:t>
            </a:r>
            <a:r>
              <a:rPr lang="en-US" dirty="0"/>
              <a:t> et des </a:t>
            </a:r>
            <a:r>
              <a:rPr lang="en-US" b="1" dirty="0" err="1"/>
              <a:t>fonctions</a:t>
            </a:r>
            <a:r>
              <a:rPr lang="en-US" b="1" dirty="0"/>
              <a:t> de </a:t>
            </a:r>
            <a:r>
              <a:rPr lang="en-US" b="1" dirty="0" err="1"/>
              <a:t>perte</a:t>
            </a:r>
            <a:r>
              <a:rPr lang="en-US" dirty="0"/>
              <a:t> pour </a:t>
            </a:r>
            <a:r>
              <a:rPr lang="en-US" b="1" dirty="0" err="1"/>
              <a:t>comprimer</a:t>
            </a:r>
            <a:r>
              <a:rPr lang="en-US" dirty="0"/>
              <a:t> des données haute dimension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b="1" dirty="0" err="1"/>
              <a:t>espace</a:t>
            </a:r>
            <a:r>
              <a:rPr lang="en-US" b="1" dirty="0"/>
              <a:t> latent</a:t>
            </a:r>
            <a:r>
              <a:rPr lang="en-US" dirty="0"/>
              <a:t> de </a:t>
            </a:r>
            <a:r>
              <a:rPr lang="en-US" dirty="0" err="1"/>
              <a:t>faible</a:t>
            </a:r>
            <a:r>
              <a:rPr lang="en-US" dirty="0"/>
              <a:t> dimension, </a:t>
            </a:r>
            <a:r>
              <a:rPr lang="en-US" dirty="0" err="1"/>
              <a:t>puis</a:t>
            </a:r>
            <a:r>
              <a:rPr lang="en-US" dirty="0"/>
              <a:t> les </a:t>
            </a:r>
            <a:r>
              <a:rPr lang="en-US" b="1" dirty="0" err="1"/>
              <a:t>reconstruire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65C063-23BA-579D-516C-ACD61196D2D6}"/>
              </a:ext>
            </a:extLst>
          </p:cNvPr>
          <p:cNvSpPr txBox="1"/>
          <p:nvPr/>
        </p:nvSpPr>
        <p:spPr>
          <a:xfrm>
            <a:off x="597194" y="5453784"/>
            <a:ext cx="794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Il rend possible une </a:t>
            </a:r>
            <a:r>
              <a:rPr lang="fr-FR" sz="1800" b="1" dirty="0"/>
              <a:t>exploration géométrique</a:t>
            </a:r>
            <a:r>
              <a:rPr lang="fr-FR" sz="1800" dirty="0"/>
              <a:t> du matériau symbolique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CA591D-3FB6-6550-D0B3-6505DD1B6712}"/>
              </a:ext>
            </a:extLst>
          </p:cNvPr>
          <p:cNvCxnSpPr>
            <a:stCxn id="7" idx="4"/>
            <a:endCxn id="26" idx="0"/>
          </p:cNvCxnSpPr>
          <p:nvPr/>
        </p:nvCxnSpPr>
        <p:spPr>
          <a:xfrm flipH="1">
            <a:off x="4572000" y="4689000"/>
            <a:ext cx="9303" cy="7647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66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961B-326B-D99B-B3EE-1348E638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F88B9-A165-839E-7C42-BFEB7E83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69" y="647853"/>
            <a:ext cx="7772400" cy="1008169"/>
          </a:xfrm>
        </p:spPr>
        <p:txBody>
          <a:bodyPr>
            <a:normAutofit/>
          </a:bodyPr>
          <a:lstStyle/>
          <a:p>
            <a:r>
              <a:rPr lang="fr-FR" b="1" dirty="0"/>
              <a:t>les biais inductifs - </a:t>
            </a:r>
            <a:r>
              <a:rPr lang="fr-FR" sz="2800" b="1" i="1" dirty="0"/>
              <a:t>Wang et al. (2020)</a:t>
            </a:r>
            <a:br>
              <a:rPr lang="fr-FR" sz="2800" b="1" dirty="0"/>
            </a:br>
            <a:endParaRPr lang="fr-FR" b="1" dirty="0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A62DE35-88F8-D858-E0EE-AC3692D2D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16" y="2862813"/>
            <a:ext cx="7772400" cy="18766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E4A318-3945-3F76-3D77-01E655C99DCF}"/>
              </a:ext>
            </a:extLst>
          </p:cNvPr>
          <p:cNvSpPr/>
          <p:nvPr/>
        </p:nvSpPr>
        <p:spPr>
          <a:xfrm>
            <a:off x="2562446" y="1892595"/>
            <a:ext cx="1967023" cy="30940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Représentations musicales distinctes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F156FD-C73B-547B-4682-208FE6112484}"/>
              </a:ext>
            </a:extLst>
          </p:cNvPr>
          <p:cNvSpPr/>
          <p:nvPr/>
        </p:nvSpPr>
        <p:spPr>
          <a:xfrm>
            <a:off x="4614529" y="1892595"/>
            <a:ext cx="1871331" cy="30940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Deux architectures d’apprentissage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3E393E-13F7-BBDA-2145-41846FE7442E}"/>
              </a:ext>
            </a:extLst>
          </p:cNvPr>
          <p:cNvSpPr/>
          <p:nvPr/>
        </p:nvSpPr>
        <p:spPr>
          <a:xfrm>
            <a:off x="6634715" y="1881963"/>
            <a:ext cx="1913501" cy="30940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Espaces latents spécialisés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AA767-44E6-13E4-93CF-EEA79E9F9071}"/>
              </a:ext>
            </a:extLst>
          </p:cNvPr>
          <p:cNvSpPr/>
          <p:nvPr/>
        </p:nvSpPr>
        <p:spPr>
          <a:xfrm>
            <a:off x="648584" y="1892595"/>
            <a:ext cx="1871332" cy="30940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Information musicale symbolique</a:t>
            </a:r>
          </a:p>
        </p:txBody>
      </p:sp>
    </p:spTree>
    <p:extLst>
      <p:ext uri="{BB962C8B-B14F-4D97-AF65-F5344CB8AC3E}">
        <p14:creationId xmlns:p14="http://schemas.microsoft.com/office/powerpoint/2010/main" val="348222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CE36-B20B-5842-C85F-23C1D60C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078673-7CC8-F711-25F4-5E177375EB37}"/>
              </a:ext>
            </a:extLst>
          </p:cNvPr>
          <p:cNvSpPr/>
          <p:nvPr/>
        </p:nvSpPr>
        <p:spPr>
          <a:xfrm>
            <a:off x="1419446" y="1329071"/>
            <a:ext cx="5874489" cy="435934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ysClr val="windowText" lastClr="000000"/>
                </a:solidFill>
              </a:rPr>
              <a:t>Exploratory creativity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5683F6-AF7D-1490-A9CE-0E35BDEED2B0}"/>
              </a:ext>
            </a:extLst>
          </p:cNvPr>
          <p:cNvSpPr/>
          <p:nvPr/>
        </p:nvSpPr>
        <p:spPr>
          <a:xfrm>
            <a:off x="1991478" y="1930723"/>
            <a:ext cx="4699591" cy="34874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/>
              <a:t>Score-based CAC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34D816-0E69-249B-60B0-EE43BE1E1518}"/>
              </a:ext>
            </a:extLst>
          </p:cNvPr>
          <p:cNvSpPr/>
          <p:nvPr/>
        </p:nvSpPr>
        <p:spPr>
          <a:xfrm>
            <a:off x="2277495" y="2565487"/>
            <a:ext cx="4112142" cy="2615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chemeClr val="bg1"/>
                </a:solidFill>
              </a:rPr>
              <a:t>Music theory AI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5C7AAD-DFF6-193C-4884-FF22C41CB127}"/>
              </a:ext>
            </a:extLst>
          </p:cNvPr>
          <p:cNvSpPr/>
          <p:nvPr/>
        </p:nvSpPr>
        <p:spPr>
          <a:xfrm>
            <a:off x="2563510" y="3156965"/>
            <a:ext cx="3524693" cy="1743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/>
              <a:t>Musical texture</a:t>
            </a:r>
          </a:p>
        </p:txBody>
      </p:sp>
    </p:spTree>
    <p:extLst>
      <p:ext uri="{BB962C8B-B14F-4D97-AF65-F5344CB8AC3E}">
        <p14:creationId xmlns:p14="http://schemas.microsoft.com/office/powerpoint/2010/main" val="221023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1178-F595-E763-B683-79920DED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065451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BFBFBF"/>
                </a:solidFill>
              </a:rPr>
              <a:t>Qu’est-ce qu’une texture musicale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796F-1AB2-32DC-4723-B2F7905C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33" y="2270839"/>
            <a:ext cx="8559209" cy="440640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sz="2000" b="1" dirty="0"/>
              <a:t>Définition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2000" dirty="0"/>
              <a:t>La </a:t>
            </a:r>
            <a:r>
              <a:rPr lang="fr-FR" sz="2000" b="1" dirty="0"/>
              <a:t>texture musicale</a:t>
            </a:r>
            <a:r>
              <a:rPr lang="fr-FR" sz="2000" dirty="0"/>
              <a:t> est une propriété de haut niveau de la structure musicale, qui </a:t>
            </a:r>
            <a:r>
              <a:rPr lang="fr-FR" sz="2000" b="1" dirty="0"/>
              <a:t>émerge de l’interaction</a:t>
            </a:r>
            <a:r>
              <a:rPr lang="fr-FR" sz="2000" dirty="0"/>
              <a:t> entre plusieurs éléments sonores individuels (Berry 1987 ; Antunes 2023).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2000" b="1" dirty="0"/>
              <a:t> Approche du projet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La texture est traitée comme </a:t>
            </a:r>
            <a:r>
              <a:rPr lang="fr-FR" sz="2000" b="1" dirty="0"/>
              <a:t>une unité compositionnelle</a:t>
            </a:r>
            <a:endParaRPr lang="fr-FR" sz="20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Elle peut être </a:t>
            </a:r>
            <a:r>
              <a:rPr lang="fr-FR" sz="2000" b="1" dirty="0"/>
              <a:t>encodée, structurée et transformée</a:t>
            </a:r>
            <a:r>
              <a:rPr lang="fr-FR" sz="2000" dirty="0"/>
              <a:t> via des représentations apprises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Elle devient un </a:t>
            </a:r>
            <a:r>
              <a:rPr lang="fr-FR" sz="2000" b="1" dirty="0"/>
              <a:t>axe central de la modélisation symbolique</a:t>
            </a:r>
            <a:endParaRPr lang="fr-FR" sz="2000" dirty="0"/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29773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8A992-C0CF-2EB3-22EB-ED534A1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94" y="609600"/>
            <a:ext cx="2732755" cy="1905000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Taxonomie des 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DD22-C37B-C101-C205-40EE0F2A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94" y="2666999"/>
            <a:ext cx="2732755" cy="3216276"/>
          </a:xfrm>
        </p:spPr>
        <p:txBody>
          <a:bodyPr anchor="t">
            <a:normAutofit/>
          </a:bodyPr>
          <a:lstStyle/>
          <a:p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Développée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à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partir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du </a:t>
            </a:r>
            <a:r>
              <a:rPr lang="en-US" sz="1600" b="1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Commu</a:t>
            </a:r>
            <a:r>
              <a:rPr lang="en-US" sz="1600" b="1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Dataset</a:t>
            </a:r>
            <a:endParaRPr lang="en-US" sz="1600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</a:endParaRPr>
          </a:p>
          <a:p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Organise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les données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selon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:</a:t>
            </a:r>
            <a:b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</a:b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→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nombre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de couches,</a:t>
            </a:r>
            <a:b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</a:b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→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rôles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fonctionnels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,</a:t>
            </a:r>
            <a:b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</a:b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→ relations entre couches</a:t>
            </a:r>
          </a:p>
          <a:p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Sert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de base pour </a:t>
            </a:r>
            <a:r>
              <a:rPr lang="en-US" sz="16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l'entraînement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du </a:t>
            </a:r>
            <a:r>
              <a:rPr lang="en-US" sz="1600" b="1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modèle</a:t>
            </a:r>
            <a:r>
              <a:rPr lang="en-US" sz="1600" b="1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VAE</a:t>
            </a:r>
            <a:r>
              <a:rPr lang="en-US" sz="16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de TEMA-S</a:t>
            </a:r>
          </a:p>
          <a:p>
            <a:pPr marL="0" indent="0">
              <a:buNone/>
            </a:pPr>
            <a:endParaRPr lang="en-US" sz="1600" dirty="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3245" y="620720"/>
            <a:ext cx="5197085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F45150A-47A8-1FDD-70CD-DE57ECD45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160" y="1115267"/>
            <a:ext cx="4165255" cy="428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83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79654-DD36-03AF-EE1E-B77758F2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702CD8-E6C9-F33D-1D67-DC7097896046}"/>
              </a:ext>
            </a:extLst>
          </p:cNvPr>
          <p:cNvSpPr/>
          <p:nvPr/>
        </p:nvSpPr>
        <p:spPr>
          <a:xfrm>
            <a:off x="1419446" y="1329071"/>
            <a:ext cx="5874489" cy="435934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ysClr val="windowText" lastClr="000000"/>
                </a:solidFill>
              </a:rPr>
              <a:t>Exploratory creativity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3FA508-04BB-A796-0811-DD13D354D457}"/>
              </a:ext>
            </a:extLst>
          </p:cNvPr>
          <p:cNvSpPr/>
          <p:nvPr/>
        </p:nvSpPr>
        <p:spPr>
          <a:xfrm>
            <a:off x="1991478" y="1930723"/>
            <a:ext cx="4699591" cy="34874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/>
              <a:t>Score-based CAC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F49C20-8F8A-D6F6-EAA6-2214667A087D}"/>
              </a:ext>
            </a:extLst>
          </p:cNvPr>
          <p:cNvSpPr/>
          <p:nvPr/>
        </p:nvSpPr>
        <p:spPr>
          <a:xfrm>
            <a:off x="2277495" y="2565487"/>
            <a:ext cx="4112142" cy="2615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 lang="en-US" dirty="0">
                <a:solidFill>
                  <a:schemeClr val="bg1"/>
                </a:solidFill>
              </a:rPr>
              <a:t>Music theory AI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C97E55-1722-B949-CDEE-53D7D041B8C6}"/>
              </a:ext>
            </a:extLst>
          </p:cNvPr>
          <p:cNvSpPr/>
          <p:nvPr/>
        </p:nvSpPr>
        <p:spPr>
          <a:xfrm>
            <a:off x="2563510" y="3156965"/>
            <a:ext cx="3524693" cy="1743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/>
              <a:t>Musical texture</a:t>
            </a:r>
          </a:p>
        </p:txBody>
      </p:sp>
    </p:spTree>
    <p:extLst>
      <p:ext uri="{BB962C8B-B14F-4D97-AF65-F5344CB8AC3E}">
        <p14:creationId xmlns:p14="http://schemas.microsoft.com/office/powerpoint/2010/main" val="415620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82C9-272A-FA6A-6557-7235239F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créativité comme exploration d’espace (Boden, 2004)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7A50-5B59-135F-B13F-67178E797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64" y="2636874"/>
            <a:ext cx="7870536" cy="39353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2800" b="1" dirty="0"/>
              <a:t>Parmi les trois formes de créativité définies par Boden, </a:t>
            </a:r>
            <a:r>
              <a:rPr lang="fr-FR" sz="2800" dirty="0"/>
              <a:t>la créativité exploratoire désigne </a:t>
            </a:r>
            <a:r>
              <a:rPr lang="fr-FR" sz="2800" b="1" dirty="0"/>
              <a:t>l’exploration systématique d’un espace de possibilités structuré par des règles internes</a:t>
            </a:r>
            <a:r>
              <a:rPr lang="fr-FR" sz="2800" dirty="0"/>
              <a:t> — et non une invention </a:t>
            </a:r>
            <a:r>
              <a:rPr lang="fr-FR" sz="2800" i="1" dirty="0"/>
              <a:t>ex nihilo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802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D3E1E-0660-EEAB-C32C-71C4B36C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65199"/>
            <a:ext cx="4930123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700" b="1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TEMA-S et la composition </a:t>
            </a:r>
            <a:endParaRPr lang="en-US" sz="470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4024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886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E8B2-C53A-B93E-7A62-2FFA41C5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78" y="174214"/>
            <a:ext cx="7511473" cy="520401"/>
          </a:xfrm>
        </p:spPr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F8E3-C28E-2B00-4B7F-6C3CCA010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78" y="726849"/>
            <a:ext cx="7511472" cy="1107604"/>
          </a:xfrm>
        </p:spPr>
        <p:txBody>
          <a:bodyPr anchor="t"/>
          <a:lstStyle/>
          <a:p>
            <a:pPr marL="0" indent="0">
              <a:buNone/>
            </a:pPr>
            <a:r>
              <a:rPr lang="fr-FR" i="1" dirty="0"/>
              <a:t>Des heuristiques musicales permettent des transformations signifiantes et contrôlables des textures musicales symboliques dans l’espace latent d’un VAE.</a:t>
            </a:r>
            <a:endParaRPr lang="fr-FR" b="1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386FBF-0AC0-5853-C320-320B5C69C332}"/>
              </a:ext>
            </a:extLst>
          </p:cNvPr>
          <p:cNvSpPr txBox="1">
            <a:spLocks/>
          </p:cNvSpPr>
          <p:nvPr/>
        </p:nvSpPr>
        <p:spPr>
          <a:xfrm>
            <a:off x="814178" y="1708667"/>
            <a:ext cx="7659969" cy="1424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Objectif general</a:t>
            </a:r>
          </a:p>
          <a:p>
            <a:pPr marL="0" indent="0">
              <a:buFont typeface="Arial"/>
              <a:buNone/>
            </a:pPr>
            <a:r>
              <a:rPr lang="fr-FR" dirty="0"/>
              <a:t>Développer </a:t>
            </a:r>
            <a:r>
              <a:rPr lang="fr-FR" b="1" dirty="0"/>
              <a:t>TEMA-S</a:t>
            </a:r>
            <a:r>
              <a:rPr lang="fr-FR" dirty="0"/>
              <a:t>, un prototype d’environnement de composition assistée en langage Python, centré sur la navigation et la manipulation de textures musicales dans l’espace latent d’un VAE.</a:t>
            </a:r>
            <a:r>
              <a:rPr lang="fr-FR" b="1" dirty="0"/>
              <a:t> </a:t>
            </a:r>
            <a:endParaRPr lang="fr-FR" b="1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E81C36-BDB8-B731-4E08-FE0A1722D9C4}"/>
              </a:ext>
            </a:extLst>
          </p:cNvPr>
          <p:cNvSpPr txBox="1">
            <a:spLocks/>
          </p:cNvSpPr>
          <p:nvPr/>
        </p:nvSpPr>
        <p:spPr>
          <a:xfrm>
            <a:off x="814178" y="3020210"/>
            <a:ext cx="7968315" cy="264751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3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b="1" dirty="0"/>
              <a:t>Objectifs spécifiques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Concevoir des heuristiques</a:t>
            </a:r>
            <a:r>
              <a:rPr lang="fr-FR" dirty="0"/>
              <a:t> musicales basées sur des opérations géométriques et topologiques pour naviguer dans l’espace latent.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Développer une interface Python</a:t>
            </a:r>
            <a:r>
              <a:rPr lang="fr-FR" dirty="0"/>
              <a:t> intuitive pour une exploration compositionnelle à travers les opérations de </a:t>
            </a:r>
            <a:r>
              <a:rPr lang="fr-FR" b="1" dirty="0"/>
              <a:t>sampling, interpolation et projection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Valider TEMA-S</a:t>
            </a:r>
            <a:r>
              <a:rPr lang="fr-FR" dirty="0"/>
              <a:t> par une évaluation design-</a:t>
            </a:r>
            <a:r>
              <a:rPr lang="fr-FR" dirty="0" err="1"/>
              <a:t>based</a:t>
            </a:r>
            <a:r>
              <a:rPr lang="fr-FR" dirty="0"/>
              <a:t> :</a:t>
            </a:r>
            <a:br>
              <a:rPr lang="fr-FR" dirty="0"/>
            </a:br>
            <a:r>
              <a:rPr lang="fr-FR" i="1" dirty="0"/>
              <a:t>utilisabilité, expérience utilisateur, acceptation.</a:t>
            </a:r>
            <a:endParaRPr lang="fr-FR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FDE373C5-9239-13EB-EB76-3311D5222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98" y="5554500"/>
            <a:ext cx="8643632" cy="12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2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AB6F-1E09-3BA8-987C-36E1F003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2CB4-9F0F-ED24-AFCF-F592C46C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59" y="2007703"/>
            <a:ext cx="6507166" cy="1802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71FE2-53EA-17C1-7926-8F8F008E0E70}"/>
              </a:ext>
            </a:extLst>
          </p:cNvPr>
          <p:cNvSpPr txBox="1"/>
          <p:nvPr/>
        </p:nvSpPr>
        <p:spPr>
          <a:xfrm>
            <a:off x="74429" y="6488668"/>
            <a:ext cx="93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de la demo: </a:t>
            </a:r>
            <a:r>
              <a:rPr lang="en-US" dirty="0">
                <a:hlinkClick r:id="rId2"/>
              </a:rPr>
              <a:t>https://gitlab.lis-lab.fr/micael.antunes/demovaebar-choro.git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31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85AB-D54A-BEA6-F3F1-5CC20BDC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E990-3857-92E6-EA9D-D1E4D904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Fonctionnel architecture of </a:t>
            </a:r>
            <a:r>
              <a:rPr lang="fr-FR" b="1" i="1" dirty="0" err="1"/>
              <a:t>tema</a:t>
            </a:r>
            <a:r>
              <a:rPr lang="fr-FR" b="1" i="1" dirty="0"/>
              <a:t>-s</a:t>
            </a:r>
          </a:p>
        </p:txBody>
      </p:sp>
      <p:pic>
        <p:nvPicPr>
          <p:cNvPr id="4" name="Picture 3" descr="A close-up of a sign&#10;&#10;Description automatically generated">
            <a:extLst>
              <a:ext uri="{FF2B5EF4-FFF2-40B4-BE49-F238E27FC236}">
                <a16:creationId xmlns:a16="http://schemas.microsoft.com/office/drawing/2014/main" id="{E591D408-4110-AEC1-EAE9-59F91DA5F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5" y="2670183"/>
            <a:ext cx="8826489" cy="15176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48C95-9910-A1E1-00CA-FD034D329793}"/>
              </a:ext>
            </a:extLst>
          </p:cNvPr>
          <p:cNvSpPr txBox="1"/>
          <p:nvPr/>
        </p:nvSpPr>
        <p:spPr>
          <a:xfrm>
            <a:off x="74429" y="6488668"/>
            <a:ext cx="93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de la demo: </a:t>
            </a:r>
            <a:r>
              <a:rPr lang="en-US" dirty="0">
                <a:hlinkClick r:id="rId3"/>
              </a:rPr>
              <a:t>https://gitlab.lis-lab.fr/micael.antunes/demovaebar-choro.git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36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5E58-AA4D-8B84-E87A-782711CD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39" y="247585"/>
            <a:ext cx="7757031" cy="91584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Défi créatif : faire dialoguer deux mondes musicaux</a:t>
            </a:r>
          </a:p>
        </p:txBody>
      </p:sp>
      <p:pic>
        <p:nvPicPr>
          <p:cNvPr id="12" name="Picture 11" descr="A person with a mustache smiling&#10;&#10;Description automatically generated">
            <a:extLst>
              <a:ext uri="{FF2B5EF4-FFF2-40B4-BE49-F238E27FC236}">
                <a16:creationId xmlns:a16="http://schemas.microsoft.com/office/drawing/2014/main" id="{8D51BA09-42C6-EF21-3E0E-CDC2AC51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4" y="1668280"/>
            <a:ext cx="2991558" cy="2991558"/>
          </a:xfrm>
          <a:prstGeom prst="rect">
            <a:avLst/>
          </a:prstGeom>
        </p:spPr>
      </p:pic>
      <p:pic>
        <p:nvPicPr>
          <p:cNvPr id="14" name="Picture 13" descr="A person playing a violin&#10;&#10;Description automatically generated">
            <a:extLst>
              <a:ext uri="{FF2B5EF4-FFF2-40B4-BE49-F238E27FC236}">
                <a16:creationId xmlns:a16="http://schemas.microsoft.com/office/drawing/2014/main" id="{2DAE22BF-E15C-670C-7DCB-FDDBDE6E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668" y="1516002"/>
            <a:ext cx="2825768" cy="35604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2723B8-D634-1F78-785D-AD254E63653B}"/>
              </a:ext>
            </a:extLst>
          </p:cNvPr>
          <p:cNvSpPr txBox="1"/>
          <p:nvPr/>
        </p:nvSpPr>
        <p:spPr>
          <a:xfrm>
            <a:off x="565744" y="4866554"/>
            <a:ext cx="3531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Ernesto Nazareth (</a:t>
            </a:r>
            <a:r>
              <a:rPr lang="en-BR" dirty="0"/>
              <a:t>1863–1934)</a:t>
            </a:r>
          </a:p>
          <a:p>
            <a:r>
              <a:rPr lang="en-US" i="1" dirty="0" err="1"/>
              <a:t>Escorregando</a:t>
            </a:r>
            <a:r>
              <a:rPr lang="en-US" i="1" dirty="0"/>
              <a:t> </a:t>
            </a:r>
            <a:r>
              <a:rPr lang="en-US" dirty="0"/>
              <a:t>(1923)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9C4338-86A7-6DE5-61B1-85F1D327B25B}"/>
              </a:ext>
            </a:extLst>
          </p:cNvPr>
          <p:cNvSpPr txBox="1"/>
          <p:nvPr/>
        </p:nvSpPr>
        <p:spPr>
          <a:xfrm>
            <a:off x="5046430" y="5289196"/>
            <a:ext cx="3477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Niccolò Paganini (</a:t>
            </a:r>
            <a:r>
              <a:rPr lang="en-BR" dirty="0"/>
              <a:t>1782–1840)</a:t>
            </a:r>
          </a:p>
          <a:p>
            <a:r>
              <a:rPr lang="en-US" i="1" dirty="0"/>
              <a:t>Andantino in C Major, MS. 97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BR" dirty="0"/>
              <a:t>≈ </a:t>
            </a:r>
            <a:r>
              <a:rPr lang="en-US" dirty="0"/>
              <a:t>1800-1810)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255AE-8329-058E-ECF0-37283C653162}"/>
              </a:ext>
            </a:extLst>
          </p:cNvPr>
          <p:cNvSpPr txBox="1"/>
          <p:nvPr/>
        </p:nvSpPr>
        <p:spPr>
          <a:xfrm>
            <a:off x="74429" y="6488668"/>
            <a:ext cx="93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de la demo: </a:t>
            </a:r>
            <a:r>
              <a:rPr lang="en-US" dirty="0">
                <a:hlinkClick r:id="rId4"/>
              </a:rPr>
              <a:t>https://gitlab.lis-lab.fr/micael.antunes/demovaebar-choro.git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9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2762-8EBE-DE82-270B-744A3587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Défi créatif : faire dialoguer deux mondes musicaux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C700F-98DD-1B28-9F3F-960E542B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Étant</a:t>
            </a:r>
            <a:r>
              <a:rPr lang="en-US" dirty="0"/>
              <a:t> donnée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 musicale </a:t>
            </a:r>
            <a:r>
              <a:rPr lang="en-US" dirty="0" err="1"/>
              <a:t>telle</a:t>
            </a:r>
            <a:r>
              <a:rPr lang="en-US" dirty="0"/>
              <a:t> que </a:t>
            </a:r>
            <a:r>
              <a:rPr lang="fr-FR" dirty="0"/>
              <a:t>: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b="1" dirty="0"/>
              <a:t>A – B – C – D – A</a:t>
            </a:r>
          </a:p>
          <a:p>
            <a:pPr marL="0" indent="0">
              <a:buNone/>
            </a:pPr>
            <a:r>
              <a:rPr lang="fr-FR" b="1" dirty="0"/>
              <a:t>Problème posé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Et si on choisissait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</a:t>
            </a:r>
            <a:r>
              <a:rPr lang="fr-FR" dirty="0"/>
              <a:t> : un extrait de </a:t>
            </a:r>
            <a:r>
              <a:rPr lang="fr-FR" i="1" dirty="0" err="1"/>
              <a:t>Escorregando</a:t>
            </a:r>
            <a:r>
              <a:rPr lang="fr-FR" dirty="0"/>
              <a:t> (</a:t>
            </a:r>
            <a:r>
              <a:rPr lang="fr-FR" i="1" dirty="0"/>
              <a:t>Nazareth</a:t>
            </a:r>
            <a:r>
              <a:rPr lang="fr-FR" dirty="0"/>
              <a:t>, 1923)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</a:t>
            </a:r>
            <a:r>
              <a:rPr lang="fr-FR" dirty="0"/>
              <a:t> : un extrait de </a:t>
            </a:r>
            <a:r>
              <a:rPr lang="fr-FR" i="1" dirty="0"/>
              <a:t>Andantino</a:t>
            </a:r>
            <a:r>
              <a:rPr lang="fr-FR" dirty="0"/>
              <a:t> (</a:t>
            </a:r>
            <a:r>
              <a:rPr lang="fr-FR" i="1" dirty="0"/>
              <a:t>Paganini</a:t>
            </a:r>
            <a:r>
              <a:rPr lang="fr-FR" dirty="0"/>
              <a:t>, ≈1810)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b="1" dirty="0"/>
              <a:t>Défi</a:t>
            </a:r>
            <a:r>
              <a:rPr lang="fr-FR" dirty="0"/>
              <a:t> :</a:t>
            </a:r>
          </a:p>
          <a:p>
            <a:r>
              <a:rPr lang="fr-FR" dirty="0"/>
              <a:t>Comment inventer des </a:t>
            </a:r>
            <a:r>
              <a:rPr lang="fr-FR" b="1" dirty="0"/>
              <a:t>ponts musicaux</a:t>
            </a:r>
            <a:r>
              <a:rPr lang="fr-FR" dirty="0"/>
              <a:t> (B, D)</a:t>
            </a:r>
            <a:br>
              <a:rPr lang="fr-FR" dirty="0"/>
            </a:br>
            <a:r>
              <a:rPr lang="fr-FR" dirty="0"/>
              <a:t>qui fassent </a:t>
            </a:r>
            <a:r>
              <a:rPr lang="fr-FR" b="1" dirty="0"/>
              <a:t>transition et résonance</a:t>
            </a:r>
            <a:r>
              <a:rPr lang="fr-FR" dirty="0"/>
              <a:t> entre ces deux univers ?</a:t>
            </a:r>
          </a:p>
          <a:p>
            <a:pPr marL="0" indent="0">
              <a:buNone/>
            </a:pPr>
            <a:r>
              <a:rPr lang="fr-FR" dirty="0"/>
              <a:t>Un exercice de création assistée par </a:t>
            </a:r>
            <a:r>
              <a:rPr lang="fr-FR" i="1" dirty="0"/>
              <a:t>TEMA-S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B15F8-BC60-2097-FAFE-74FED128553E}"/>
              </a:ext>
            </a:extLst>
          </p:cNvPr>
          <p:cNvSpPr txBox="1"/>
          <p:nvPr/>
        </p:nvSpPr>
        <p:spPr>
          <a:xfrm>
            <a:off x="74429" y="6488668"/>
            <a:ext cx="93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de la demo: </a:t>
            </a:r>
            <a:r>
              <a:rPr lang="en-US" dirty="0">
                <a:hlinkClick r:id="rId2"/>
              </a:rPr>
              <a:t>https://gitlab.lis-lab.fr/micael.antunes/demovaebar-choro.git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47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60364-EB56-3999-6E02-303A6887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B8B6-128C-311F-FA10-50531590A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39" y="247585"/>
            <a:ext cx="7757031" cy="91584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Défi créatif : faire dialoguer deux mondes musicaux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A86412-9BDC-80E0-B297-BE80B6B61D9D}"/>
              </a:ext>
            </a:extLst>
          </p:cNvPr>
          <p:cNvSpPr txBox="1"/>
          <p:nvPr/>
        </p:nvSpPr>
        <p:spPr>
          <a:xfrm>
            <a:off x="430039" y="1163425"/>
            <a:ext cx="737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Ernesto Nazareth (</a:t>
            </a:r>
            <a:r>
              <a:rPr lang="en-BR" dirty="0"/>
              <a:t>1863–1934) - </a:t>
            </a:r>
            <a:r>
              <a:rPr lang="en-US" i="1" dirty="0" err="1"/>
              <a:t>Escorregando</a:t>
            </a:r>
            <a:r>
              <a:rPr lang="en-US" i="1" dirty="0"/>
              <a:t> </a:t>
            </a:r>
            <a:r>
              <a:rPr lang="en-US" dirty="0"/>
              <a:t>(1923)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2A24A5-A2B6-0C75-37F7-F0DE1F856A72}"/>
              </a:ext>
            </a:extLst>
          </p:cNvPr>
          <p:cNvSpPr txBox="1"/>
          <p:nvPr/>
        </p:nvSpPr>
        <p:spPr>
          <a:xfrm>
            <a:off x="430039" y="3968742"/>
            <a:ext cx="851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Niccolò Paganini (</a:t>
            </a:r>
            <a:r>
              <a:rPr lang="en-BR" dirty="0"/>
              <a:t>1782–1840) - </a:t>
            </a:r>
            <a:r>
              <a:rPr lang="en-US" i="1" dirty="0"/>
              <a:t>Andantino in C Major, MS. 97</a:t>
            </a:r>
            <a:r>
              <a:rPr lang="en-US" dirty="0"/>
              <a:t>  (</a:t>
            </a:r>
            <a:r>
              <a:rPr lang="en-BR" dirty="0"/>
              <a:t>≈ </a:t>
            </a:r>
            <a:r>
              <a:rPr lang="en-US" dirty="0"/>
              <a:t>1800-1810)</a:t>
            </a:r>
          </a:p>
        </p:txBody>
      </p:sp>
      <p:pic>
        <p:nvPicPr>
          <p:cNvPr id="4" name="Picture 3" descr="A close-up of a sheet music&#10;&#10;Description automatically generated">
            <a:extLst>
              <a:ext uri="{FF2B5EF4-FFF2-40B4-BE49-F238E27FC236}">
                <a16:creationId xmlns:a16="http://schemas.microsoft.com/office/drawing/2014/main" id="{0BA8157C-7897-5E63-9331-ACDA1FA62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16" y="1532757"/>
            <a:ext cx="7772400" cy="1836198"/>
          </a:xfrm>
          <a:prstGeom prst="rect">
            <a:avLst/>
          </a:prstGeom>
        </p:spPr>
      </p:pic>
      <p:pic>
        <p:nvPicPr>
          <p:cNvPr id="7" name="Picture 6" descr="A close-up of a music sheet&#10;&#10;Description automatically generated">
            <a:extLst>
              <a:ext uri="{FF2B5EF4-FFF2-40B4-BE49-F238E27FC236}">
                <a16:creationId xmlns:a16="http://schemas.microsoft.com/office/drawing/2014/main" id="{4FCFB242-2F17-A761-37F0-E3952E45CF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816" y="4527299"/>
            <a:ext cx="7772400" cy="1836198"/>
          </a:xfrm>
          <a:prstGeom prst="rect">
            <a:avLst/>
          </a:prstGeom>
        </p:spPr>
      </p:pic>
      <p:pic>
        <p:nvPicPr>
          <p:cNvPr id="8" name="audioNazareth.mp3">
            <a:hlinkClick r:id="" action="ppaction://media"/>
            <a:extLst>
              <a:ext uri="{FF2B5EF4-FFF2-40B4-BE49-F238E27FC236}">
                <a16:creationId xmlns:a16="http://schemas.microsoft.com/office/drawing/2014/main" id="{388777D7-23FF-4915-468A-1E712F9148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92216" y="1471377"/>
            <a:ext cx="812800" cy="812800"/>
          </a:xfrm>
          <a:prstGeom prst="rect">
            <a:avLst/>
          </a:prstGeom>
        </p:spPr>
      </p:pic>
      <p:pic>
        <p:nvPicPr>
          <p:cNvPr id="9" name="audioPaganini.mp3">
            <a:hlinkClick r:id="" action="ppaction://media"/>
            <a:extLst>
              <a:ext uri="{FF2B5EF4-FFF2-40B4-BE49-F238E27FC236}">
                <a16:creationId xmlns:a16="http://schemas.microsoft.com/office/drawing/2014/main" id="{D2D256B8-B712-2812-75EF-0052C52ED6B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92216" y="4575705"/>
            <a:ext cx="812800" cy="812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375CCE-F250-158C-D232-B1216E5589CF}"/>
              </a:ext>
            </a:extLst>
          </p:cNvPr>
          <p:cNvSpPr txBox="1"/>
          <p:nvPr/>
        </p:nvSpPr>
        <p:spPr>
          <a:xfrm>
            <a:off x="74429" y="6488668"/>
            <a:ext cx="93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de la demo: </a:t>
            </a:r>
            <a:r>
              <a:rPr lang="en-US" dirty="0">
                <a:hlinkClick r:id="rId9"/>
              </a:rPr>
              <a:t>https://gitlab.lis-lab.fr/micael.antunes/demovaebar-choro.git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61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38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838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sheet music&#10;&#10;Description automatically generated">
            <a:extLst>
              <a:ext uri="{FF2B5EF4-FFF2-40B4-BE49-F238E27FC236}">
                <a16:creationId xmlns:a16="http://schemas.microsoft.com/office/drawing/2014/main" id="{5B2244AB-0E50-DB37-5359-B119798D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94" y="1107745"/>
            <a:ext cx="4114722" cy="972087"/>
          </a:xfrm>
          <a:prstGeom prst="rect">
            <a:avLst/>
          </a:prstGeom>
        </p:spPr>
      </p:pic>
      <p:pic>
        <p:nvPicPr>
          <p:cNvPr id="3" name="Picture 2" descr="A close-up of a music sheet&#10;&#10;Description automatically generated">
            <a:extLst>
              <a:ext uri="{FF2B5EF4-FFF2-40B4-BE49-F238E27FC236}">
                <a16:creationId xmlns:a16="http://schemas.microsoft.com/office/drawing/2014/main" id="{7A3DEE36-E0C8-13DD-BAEC-B28EAD050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68" y="4444862"/>
            <a:ext cx="4114722" cy="972087"/>
          </a:xfrm>
          <a:prstGeom prst="rect">
            <a:avLst/>
          </a:prstGeom>
        </p:spPr>
      </p:pic>
      <p:pic>
        <p:nvPicPr>
          <p:cNvPr id="13" name="Picture 12" descr="A purple background with yellow dots&#10;&#10;Description automatically generated">
            <a:extLst>
              <a:ext uri="{FF2B5EF4-FFF2-40B4-BE49-F238E27FC236}">
                <a16:creationId xmlns:a16="http://schemas.microsoft.com/office/drawing/2014/main" id="{C4B250E5-BFC2-5854-C81C-15F493D42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986" y="427905"/>
            <a:ext cx="3172870" cy="1241696"/>
          </a:xfrm>
          <a:prstGeom prst="rect">
            <a:avLst/>
          </a:prstGeom>
        </p:spPr>
      </p:pic>
      <p:pic>
        <p:nvPicPr>
          <p:cNvPr id="15" name="Picture 14" descr="A purple and yellow rectangles&#10;&#10;Description automatically generated">
            <a:extLst>
              <a:ext uri="{FF2B5EF4-FFF2-40B4-BE49-F238E27FC236}">
                <a16:creationId xmlns:a16="http://schemas.microsoft.com/office/drawing/2014/main" id="{CD65A3D1-2D59-EA41-7F83-96B4CC157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986" y="2044173"/>
            <a:ext cx="1698675" cy="1307159"/>
          </a:xfrm>
          <a:prstGeom prst="rect">
            <a:avLst/>
          </a:prstGeom>
        </p:spPr>
      </p:pic>
      <p:pic>
        <p:nvPicPr>
          <p:cNvPr id="17" name="Picture 16" descr="A purple background with yellow dots&#10;&#10;Description automatically generated">
            <a:extLst>
              <a:ext uri="{FF2B5EF4-FFF2-40B4-BE49-F238E27FC236}">
                <a16:creationId xmlns:a16="http://schemas.microsoft.com/office/drawing/2014/main" id="{97BA3313-BF6B-9B27-974A-8267BE27A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867" y="3839000"/>
            <a:ext cx="3085521" cy="1211723"/>
          </a:xfrm>
          <a:prstGeom prst="rect">
            <a:avLst/>
          </a:prstGeom>
        </p:spPr>
      </p:pic>
      <p:pic>
        <p:nvPicPr>
          <p:cNvPr id="19" name="Picture 18" descr="A purple and yellow graph&#10;&#10;Description automatically generated">
            <a:extLst>
              <a:ext uri="{FF2B5EF4-FFF2-40B4-BE49-F238E27FC236}">
                <a16:creationId xmlns:a16="http://schemas.microsoft.com/office/drawing/2014/main" id="{F7D18D7F-6E81-0244-954C-D371EF37D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985" y="5427011"/>
            <a:ext cx="1698675" cy="1318375"/>
          </a:xfrm>
          <a:prstGeom prst="rect">
            <a:avLst/>
          </a:prstGeom>
        </p:spPr>
      </p:pic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589974D-417F-5FC4-39E4-91F196784C07}"/>
              </a:ext>
            </a:extLst>
          </p:cNvPr>
          <p:cNvCxnSpPr>
            <a:stCxn id="2" idx="3"/>
            <a:endCxn id="13" idx="1"/>
          </p:cNvCxnSpPr>
          <p:nvPr/>
        </p:nvCxnSpPr>
        <p:spPr>
          <a:xfrm flipV="1">
            <a:off x="4300716" y="1048753"/>
            <a:ext cx="1077270" cy="54503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58A77E0-4F28-007E-CF43-5FAC1AF8761E}"/>
              </a:ext>
            </a:extLst>
          </p:cNvPr>
          <p:cNvCxnSpPr>
            <a:stCxn id="2" idx="3"/>
            <a:endCxn id="15" idx="1"/>
          </p:cNvCxnSpPr>
          <p:nvPr/>
        </p:nvCxnSpPr>
        <p:spPr>
          <a:xfrm>
            <a:off x="4300716" y="1593789"/>
            <a:ext cx="1077270" cy="110396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C2F2A2BA-FBC9-B9D1-7E53-D05DEBCB123B}"/>
              </a:ext>
            </a:extLst>
          </p:cNvPr>
          <p:cNvCxnSpPr>
            <a:stCxn id="3" idx="3"/>
            <a:endCxn id="17" idx="1"/>
          </p:cNvCxnSpPr>
          <p:nvPr/>
        </p:nvCxnSpPr>
        <p:spPr>
          <a:xfrm flipV="1">
            <a:off x="4446490" y="4444862"/>
            <a:ext cx="888377" cy="48604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811B149A-8211-2D02-ABB2-EA0D5A3010FA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4446490" y="4930906"/>
            <a:ext cx="931495" cy="115529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3D0170-3D9D-CC3A-63D4-1C3B6A376256}"/>
              </a:ext>
            </a:extLst>
          </p:cNvPr>
          <p:cNvSpPr txBox="1"/>
          <p:nvPr/>
        </p:nvSpPr>
        <p:spPr>
          <a:xfrm>
            <a:off x="5274829" y="56260"/>
            <a:ext cx="207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Quasi Piano Roll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84F1D3-A491-7E7D-2575-ED3F80D323DA}"/>
              </a:ext>
            </a:extLst>
          </p:cNvPr>
          <p:cNvSpPr txBox="1"/>
          <p:nvPr/>
        </p:nvSpPr>
        <p:spPr>
          <a:xfrm>
            <a:off x="5304831" y="1676697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Chroma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526340-224D-1EC2-EEC1-B03DCF9EB623}"/>
              </a:ext>
            </a:extLst>
          </p:cNvPr>
          <p:cNvSpPr txBox="1"/>
          <p:nvPr/>
        </p:nvSpPr>
        <p:spPr>
          <a:xfrm>
            <a:off x="5306290" y="3494610"/>
            <a:ext cx="207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Quasi Piano Roll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EE41E4-5A5A-13D1-C5A0-25FB3B88497F}"/>
              </a:ext>
            </a:extLst>
          </p:cNvPr>
          <p:cNvSpPr txBox="1"/>
          <p:nvPr/>
        </p:nvSpPr>
        <p:spPr>
          <a:xfrm>
            <a:off x="5304830" y="509369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Chroma</a:t>
            </a:r>
          </a:p>
        </p:txBody>
      </p:sp>
    </p:spTree>
    <p:extLst>
      <p:ext uri="{BB962C8B-B14F-4D97-AF65-F5344CB8AC3E}">
        <p14:creationId xmlns:p14="http://schemas.microsoft.com/office/powerpoint/2010/main" val="149732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F2F1-E04F-DC8D-3103-57846665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urple background with yellow dots&#10;&#10;Description automatically generated">
            <a:extLst>
              <a:ext uri="{FF2B5EF4-FFF2-40B4-BE49-F238E27FC236}">
                <a16:creationId xmlns:a16="http://schemas.microsoft.com/office/drawing/2014/main" id="{7D2DEBAF-7C09-CAA6-13BF-3EA226C0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3" y="371645"/>
            <a:ext cx="3172870" cy="1241696"/>
          </a:xfrm>
          <a:prstGeom prst="rect">
            <a:avLst/>
          </a:prstGeom>
        </p:spPr>
      </p:pic>
      <p:pic>
        <p:nvPicPr>
          <p:cNvPr id="15" name="Picture 14" descr="A purple and yellow rectangles&#10;&#10;Description automatically generated">
            <a:extLst>
              <a:ext uri="{FF2B5EF4-FFF2-40B4-BE49-F238E27FC236}">
                <a16:creationId xmlns:a16="http://schemas.microsoft.com/office/drawing/2014/main" id="{7CFA88A6-83A8-69F1-9700-2B686506B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43" y="1987913"/>
            <a:ext cx="1698675" cy="1307159"/>
          </a:xfrm>
          <a:prstGeom prst="rect">
            <a:avLst/>
          </a:prstGeom>
        </p:spPr>
      </p:pic>
      <p:pic>
        <p:nvPicPr>
          <p:cNvPr id="17" name="Picture 16" descr="A purple background with yellow dots&#10;&#10;Description automatically generated">
            <a:extLst>
              <a:ext uri="{FF2B5EF4-FFF2-40B4-BE49-F238E27FC236}">
                <a16:creationId xmlns:a16="http://schemas.microsoft.com/office/drawing/2014/main" id="{61791EDC-0CC0-7F68-BAE6-0A6988220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24" y="3782740"/>
            <a:ext cx="3085521" cy="1211723"/>
          </a:xfrm>
          <a:prstGeom prst="rect">
            <a:avLst/>
          </a:prstGeom>
        </p:spPr>
      </p:pic>
      <p:pic>
        <p:nvPicPr>
          <p:cNvPr id="19" name="Picture 18" descr="A purple and yellow graph&#10;&#10;Description automatically generated">
            <a:extLst>
              <a:ext uri="{FF2B5EF4-FFF2-40B4-BE49-F238E27FC236}">
                <a16:creationId xmlns:a16="http://schemas.microsoft.com/office/drawing/2014/main" id="{1C627D52-77B3-B01C-643F-6164845A0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42" y="5370751"/>
            <a:ext cx="1698675" cy="13183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9B1BEBA-66EF-F90D-7FDF-E02FAA240C61}"/>
              </a:ext>
            </a:extLst>
          </p:cNvPr>
          <p:cNvSpPr txBox="1"/>
          <p:nvPr/>
        </p:nvSpPr>
        <p:spPr>
          <a:xfrm>
            <a:off x="132986" y="0"/>
            <a:ext cx="207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Quasi Piano Roll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04E562-808B-767B-72DA-32B0FF0CDC9E}"/>
              </a:ext>
            </a:extLst>
          </p:cNvPr>
          <p:cNvSpPr txBox="1"/>
          <p:nvPr/>
        </p:nvSpPr>
        <p:spPr>
          <a:xfrm>
            <a:off x="162988" y="1620437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Chroma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D7BFA2-DCB2-3BFC-4406-6C259F57BFDA}"/>
              </a:ext>
            </a:extLst>
          </p:cNvPr>
          <p:cNvSpPr txBox="1"/>
          <p:nvPr/>
        </p:nvSpPr>
        <p:spPr>
          <a:xfrm>
            <a:off x="164447" y="3438350"/>
            <a:ext cx="207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Quasi Piano Roll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66AEE8-799B-C9CB-EF46-5195C681AB9F}"/>
              </a:ext>
            </a:extLst>
          </p:cNvPr>
          <p:cNvSpPr txBox="1"/>
          <p:nvPr/>
        </p:nvSpPr>
        <p:spPr>
          <a:xfrm>
            <a:off x="162987" y="503743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Chroma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96B814-72B8-3D34-A72C-EBA4FB4F6931}"/>
              </a:ext>
            </a:extLst>
          </p:cNvPr>
          <p:cNvSpPr/>
          <p:nvPr/>
        </p:nvSpPr>
        <p:spPr>
          <a:xfrm>
            <a:off x="6546496" y="2787105"/>
            <a:ext cx="1881963" cy="13024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VAE Model 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0CC2637A-5E1F-2C05-5553-691382F10B8C}"/>
              </a:ext>
            </a:extLst>
          </p:cNvPr>
          <p:cNvCxnSpPr>
            <a:stCxn id="13" idx="3"/>
            <a:endCxn id="6" idx="2"/>
          </p:cNvCxnSpPr>
          <p:nvPr/>
        </p:nvCxnSpPr>
        <p:spPr>
          <a:xfrm>
            <a:off x="3409013" y="992493"/>
            <a:ext cx="3137483" cy="2445857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B7DAC34-157C-252B-5B8E-257D99BD2286}"/>
              </a:ext>
            </a:extLst>
          </p:cNvPr>
          <p:cNvCxnSpPr>
            <a:stCxn id="15" idx="3"/>
            <a:endCxn id="6" idx="2"/>
          </p:cNvCxnSpPr>
          <p:nvPr/>
        </p:nvCxnSpPr>
        <p:spPr>
          <a:xfrm>
            <a:off x="1934818" y="2641493"/>
            <a:ext cx="4611678" cy="796857"/>
          </a:xfrm>
          <a:prstGeom prst="bentConnector3">
            <a:avLst>
              <a:gd name="adj1" fmla="val 6580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770A898-59BE-7DE4-3F89-02A4203A7105}"/>
              </a:ext>
            </a:extLst>
          </p:cNvPr>
          <p:cNvCxnSpPr>
            <a:stCxn id="17" idx="3"/>
            <a:endCxn id="6" idx="2"/>
          </p:cNvCxnSpPr>
          <p:nvPr/>
        </p:nvCxnSpPr>
        <p:spPr>
          <a:xfrm flipV="1">
            <a:off x="3278545" y="3438350"/>
            <a:ext cx="3267951" cy="950252"/>
          </a:xfrm>
          <a:prstGeom prst="bentConnector3">
            <a:avLst>
              <a:gd name="adj1" fmla="val 5202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E808AC4-EAE5-D47A-D444-FECF45E64F58}"/>
              </a:ext>
            </a:extLst>
          </p:cNvPr>
          <p:cNvCxnSpPr>
            <a:stCxn id="19" idx="3"/>
            <a:endCxn id="6" idx="2"/>
          </p:cNvCxnSpPr>
          <p:nvPr/>
        </p:nvCxnSpPr>
        <p:spPr>
          <a:xfrm flipV="1">
            <a:off x="1934817" y="3438350"/>
            <a:ext cx="4611679" cy="2591589"/>
          </a:xfrm>
          <a:prstGeom prst="bentConnector3">
            <a:avLst>
              <a:gd name="adj1" fmla="val 663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6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46D6FF7-FB63-9882-43C2-B8B1AD7E05FA}"/>
              </a:ext>
            </a:extLst>
          </p:cNvPr>
          <p:cNvSpPr/>
          <p:nvPr/>
        </p:nvSpPr>
        <p:spPr>
          <a:xfrm>
            <a:off x="3631018" y="2777755"/>
            <a:ext cx="1881963" cy="13024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VAE Model </a:t>
            </a:r>
          </a:p>
        </p:txBody>
      </p:sp>
      <p:pic>
        <p:nvPicPr>
          <p:cNvPr id="4" name="Picture 3" descr="A purple background with yellow lines&#10;&#10;Description automatically generated">
            <a:extLst>
              <a:ext uri="{FF2B5EF4-FFF2-40B4-BE49-F238E27FC236}">
                <a16:creationId xmlns:a16="http://schemas.microsoft.com/office/drawing/2014/main" id="{87DBD6F6-EC8A-B754-B825-290F5297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8" y="124918"/>
            <a:ext cx="3492000" cy="2308358"/>
          </a:xfrm>
          <a:prstGeom prst="rect">
            <a:avLst/>
          </a:prstGeom>
        </p:spPr>
      </p:pic>
      <p:pic>
        <p:nvPicPr>
          <p:cNvPr id="6" name="Picture 5" descr="A purple and yellow line graph&#10;&#10;Description automatically generated">
            <a:extLst>
              <a:ext uri="{FF2B5EF4-FFF2-40B4-BE49-F238E27FC236}">
                <a16:creationId xmlns:a16="http://schemas.microsoft.com/office/drawing/2014/main" id="{C2393702-3EC0-7079-7A05-4ED197F45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981" y="4389834"/>
            <a:ext cx="3492000" cy="2308358"/>
          </a:xfrm>
          <a:prstGeom prst="rect">
            <a:avLst/>
          </a:prstGeom>
        </p:spPr>
      </p:pic>
      <p:pic>
        <p:nvPicPr>
          <p:cNvPr id="8" name="Picture 7" descr="A purple background with yellow lines&#10;&#10;Description automatically generated">
            <a:extLst>
              <a:ext uri="{FF2B5EF4-FFF2-40B4-BE49-F238E27FC236}">
                <a16:creationId xmlns:a16="http://schemas.microsoft.com/office/drawing/2014/main" id="{423AF6DD-BF38-3A8F-FC16-E05888BF8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8" y="4389834"/>
            <a:ext cx="3492000" cy="2308358"/>
          </a:xfrm>
          <a:prstGeom prst="rect">
            <a:avLst/>
          </a:prstGeom>
        </p:spPr>
      </p:pic>
      <p:pic>
        <p:nvPicPr>
          <p:cNvPr id="10" name="Picture 9" descr="A purple and yellow background with white text&#10;&#10;Description automatically generated">
            <a:extLst>
              <a:ext uri="{FF2B5EF4-FFF2-40B4-BE49-F238E27FC236}">
                <a16:creationId xmlns:a16="http://schemas.microsoft.com/office/drawing/2014/main" id="{2F1FA260-6BE7-5240-D2DF-C063B91C3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981" y="124918"/>
            <a:ext cx="3492000" cy="2308358"/>
          </a:xfrm>
          <a:prstGeom prst="rect">
            <a:avLst/>
          </a:prstGeom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094241E-7970-9445-7F62-CDD1844D4D58}"/>
              </a:ext>
            </a:extLst>
          </p:cNvPr>
          <p:cNvCxnSpPr>
            <a:stCxn id="2" idx="1"/>
            <a:endCxn id="4" idx="3"/>
          </p:cNvCxnSpPr>
          <p:nvPr/>
        </p:nvCxnSpPr>
        <p:spPr>
          <a:xfrm rot="16200000" flipV="1">
            <a:off x="2924121" y="1985995"/>
            <a:ext cx="1689403" cy="27560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DF53CC9-BB05-9ADE-E18A-B0E786AD33E8}"/>
              </a:ext>
            </a:extLst>
          </p:cNvPr>
          <p:cNvCxnSpPr>
            <a:stCxn id="2" idx="3"/>
            <a:endCxn id="8" idx="3"/>
          </p:cNvCxnSpPr>
          <p:nvPr/>
        </p:nvCxnSpPr>
        <p:spPr>
          <a:xfrm rot="5400000">
            <a:off x="2941565" y="4578953"/>
            <a:ext cx="1654514" cy="27560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70004F3-7E15-95CA-1449-1A0E96841547}"/>
              </a:ext>
            </a:extLst>
          </p:cNvPr>
          <p:cNvCxnSpPr>
            <a:stCxn id="2" idx="5"/>
            <a:endCxn id="6" idx="1"/>
          </p:cNvCxnSpPr>
          <p:nvPr/>
        </p:nvCxnSpPr>
        <p:spPr>
          <a:xfrm rot="16200000" flipH="1">
            <a:off x="4547920" y="4578952"/>
            <a:ext cx="1654514" cy="27560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D3D1C449-5209-5D1C-C034-0E0D4FC52F79}"/>
              </a:ext>
            </a:extLst>
          </p:cNvPr>
          <p:cNvCxnSpPr>
            <a:stCxn id="2" idx="7"/>
            <a:endCxn id="10" idx="1"/>
          </p:cNvCxnSpPr>
          <p:nvPr/>
        </p:nvCxnSpPr>
        <p:spPr>
          <a:xfrm rot="5400000" flipH="1" flipV="1">
            <a:off x="4530476" y="1985996"/>
            <a:ext cx="1689403" cy="27560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330F87C-D0E5-EDDF-E031-D9E51F38219C}"/>
              </a:ext>
            </a:extLst>
          </p:cNvPr>
          <p:cNvSpPr txBox="1"/>
          <p:nvPr/>
        </p:nvSpPr>
        <p:spPr>
          <a:xfrm>
            <a:off x="3673355" y="268158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Sampling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4B9C17-739C-0462-5440-F7D07F7516B1}"/>
              </a:ext>
            </a:extLst>
          </p:cNvPr>
          <p:cNvSpPr txBox="1"/>
          <p:nvPr/>
        </p:nvSpPr>
        <p:spPr>
          <a:xfrm>
            <a:off x="3631018" y="5853603"/>
            <a:ext cx="1930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Projection</a:t>
            </a:r>
          </a:p>
        </p:txBody>
      </p:sp>
    </p:spTree>
    <p:extLst>
      <p:ext uri="{BB962C8B-B14F-4D97-AF65-F5344CB8AC3E}">
        <p14:creationId xmlns:p14="http://schemas.microsoft.com/office/powerpoint/2010/main" val="13049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19E1C-05E4-CF75-9D1A-37CCA2F57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F7B7EFD-0B6D-8F85-D9B2-7A4A89E783ED}"/>
              </a:ext>
            </a:extLst>
          </p:cNvPr>
          <p:cNvSpPr/>
          <p:nvPr/>
        </p:nvSpPr>
        <p:spPr>
          <a:xfrm>
            <a:off x="3631018" y="159154"/>
            <a:ext cx="1881963" cy="13024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VAE Model 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0E2A63A-7C53-97F2-E1A2-79E6CB29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0" y="2931689"/>
            <a:ext cx="8985457" cy="362627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9073DD-2512-0290-1A04-CDF2CD1F9393}"/>
              </a:ext>
            </a:extLst>
          </p:cNvPr>
          <p:cNvCxnSpPr>
            <a:stCxn id="2" idx="4"/>
          </p:cNvCxnSpPr>
          <p:nvPr/>
        </p:nvCxnSpPr>
        <p:spPr>
          <a:xfrm>
            <a:off x="4572000" y="1461643"/>
            <a:ext cx="0" cy="14700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F15486-9373-2662-DBFD-97016620F1AA}"/>
              </a:ext>
            </a:extLst>
          </p:cNvPr>
          <p:cNvSpPr txBox="1"/>
          <p:nvPr/>
        </p:nvSpPr>
        <p:spPr>
          <a:xfrm>
            <a:off x="79270" y="810398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Interpolation</a:t>
            </a:r>
          </a:p>
        </p:txBody>
      </p:sp>
    </p:spTree>
    <p:extLst>
      <p:ext uri="{BB962C8B-B14F-4D97-AF65-F5344CB8AC3E}">
        <p14:creationId xmlns:p14="http://schemas.microsoft.com/office/powerpoint/2010/main" val="292600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1A41-6671-BF6B-44FC-8CB1183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D8AC341-5842-F095-D2CF-1E7E6DC4BBDE}"/>
              </a:ext>
            </a:extLst>
          </p:cNvPr>
          <p:cNvSpPr/>
          <p:nvPr/>
        </p:nvSpPr>
        <p:spPr>
          <a:xfrm>
            <a:off x="3631018" y="159154"/>
            <a:ext cx="1881963" cy="13024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VAE Model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EB0684-84BB-268D-7B66-79189AD25095}"/>
              </a:ext>
            </a:extLst>
          </p:cNvPr>
          <p:cNvCxnSpPr>
            <a:stCxn id="2" idx="4"/>
          </p:cNvCxnSpPr>
          <p:nvPr/>
        </p:nvCxnSpPr>
        <p:spPr>
          <a:xfrm>
            <a:off x="4572000" y="1461643"/>
            <a:ext cx="0" cy="14700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C8D3927-E910-A1EA-9504-9ADAA63AD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5" y="2931689"/>
            <a:ext cx="8825889" cy="3561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320F04-8E99-B35A-7CAA-A4EE24BD9F6E}"/>
              </a:ext>
            </a:extLst>
          </p:cNvPr>
          <p:cNvSpPr txBox="1"/>
          <p:nvPr/>
        </p:nvSpPr>
        <p:spPr>
          <a:xfrm>
            <a:off x="159055" y="810398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Interpolation</a:t>
            </a:r>
          </a:p>
        </p:txBody>
      </p:sp>
    </p:spTree>
    <p:extLst>
      <p:ext uri="{BB962C8B-B14F-4D97-AF65-F5344CB8AC3E}">
        <p14:creationId xmlns:p14="http://schemas.microsoft.com/office/powerpoint/2010/main" val="216504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background with yellow lines&#10;&#10;Description automatically generated">
            <a:extLst>
              <a:ext uri="{FF2B5EF4-FFF2-40B4-BE49-F238E27FC236}">
                <a16:creationId xmlns:a16="http://schemas.microsoft.com/office/drawing/2014/main" id="{2DE9191B-0235-770C-3AAA-948E7E26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3" y="1249937"/>
            <a:ext cx="4104000" cy="2018293"/>
          </a:xfrm>
          <a:prstGeom prst="rect">
            <a:avLst/>
          </a:prstGeom>
        </p:spPr>
      </p:pic>
      <p:pic>
        <p:nvPicPr>
          <p:cNvPr id="5" name="Picture 4" descr="A purple and yellow chart&#10;&#10;Description automatically generated">
            <a:extLst>
              <a:ext uri="{FF2B5EF4-FFF2-40B4-BE49-F238E27FC236}">
                <a16:creationId xmlns:a16="http://schemas.microsoft.com/office/drawing/2014/main" id="{E003716D-5857-7B9A-3E92-24130FEEE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957" y="1249937"/>
            <a:ext cx="4104000" cy="2018293"/>
          </a:xfrm>
          <a:prstGeom prst="rect">
            <a:avLst/>
          </a:prstGeom>
        </p:spPr>
      </p:pic>
      <p:pic>
        <p:nvPicPr>
          <p:cNvPr id="7" name="Picture 6" descr="A purple background with yellow lines&#10;&#10;Description automatically generated">
            <a:extLst>
              <a:ext uri="{FF2B5EF4-FFF2-40B4-BE49-F238E27FC236}">
                <a16:creationId xmlns:a16="http://schemas.microsoft.com/office/drawing/2014/main" id="{1BC0F0C0-CBCD-70E1-9E68-C300AE019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43" y="4284439"/>
            <a:ext cx="4104000" cy="2018293"/>
          </a:xfrm>
          <a:prstGeom prst="rect">
            <a:avLst/>
          </a:prstGeom>
        </p:spPr>
      </p:pic>
      <p:pic>
        <p:nvPicPr>
          <p:cNvPr id="9" name="Picture 8" descr="A purple background with yellow lines&#10;&#10;Description automatically generated">
            <a:extLst>
              <a:ext uri="{FF2B5EF4-FFF2-40B4-BE49-F238E27FC236}">
                <a16:creationId xmlns:a16="http://schemas.microsoft.com/office/drawing/2014/main" id="{A88A0998-A5A2-811E-2089-EE549FBC1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957" y="4284438"/>
            <a:ext cx="4104000" cy="201829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6309E0B-8176-3113-2EB7-1CE134D443F2}"/>
              </a:ext>
            </a:extLst>
          </p:cNvPr>
          <p:cNvSpPr txBox="1">
            <a:spLocks/>
          </p:cNvSpPr>
          <p:nvPr/>
        </p:nvSpPr>
        <p:spPr>
          <a:xfrm>
            <a:off x="430039" y="247585"/>
            <a:ext cx="7757031" cy="56079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/>
              <a:t>versions sélectionnées…</a:t>
            </a:r>
          </a:p>
        </p:txBody>
      </p:sp>
    </p:spTree>
    <p:extLst>
      <p:ext uri="{BB962C8B-B14F-4D97-AF65-F5344CB8AC3E}">
        <p14:creationId xmlns:p14="http://schemas.microsoft.com/office/powerpoint/2010/main" val="1229760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Demo.mp4">
            <a:hlinkClick r:id="" action="ppaction://media"/>
            <a:extLst>
              <a:ext uri="{FF2B5EF4-FFF2-40B4-BE49-F238E27FC236}">
                <a16:creationId xmlns:a16="http://schemas.microsoft.com/office/drawing/2014/main" id="{B2EFBFC2-A1FF-6516-8D9B-53F5AEE96C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931" t="11918" r="20274"/>
          <a:stretch/>
        </p:blipFill>
        <p:spPr>
          <a:xfrm>
            <a:off x="375781" y="151615"/>
            <a:ext cx="8587993" cy="632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2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6AC0-B65A-7B72-D455-4AC138FB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47" y="224543"/>
            <a:ext cx="7511473" cy="41839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Bibliographie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5F95-979C-72BC-FAC0-3BA45A0F8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47" y="875035"/>
            <a:ext cx="8639977" cy="5758422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Antunes, M., </a:t>
            </a:r>
            <a:r>
              <a:rPr lang="en-US" dirty="0" err="1"/>
              <a:t>Espirito</a:t>
            </a:r>
            <a:r>
              <a:rPr lang="en-US" dirty="0"/>
              <a:t> Santo, G. F., </a:t>
            </a:r>
            <a:r>
              <a:rPr lang="en-US" dirty="0" err="1"/>
              <a:t>Manzolli</a:t>
            </a:r>
            <a:r>
              <a:rPr lang="en-US" dirty="0"/>
              <a:t>, J. &amp; Queiroz, M. (2023). “A Psychoacoustic-Based Methodology for Sound Mass Music Analysis.” In </a:t>
            </a:r>
            <a:r>
              <a:rPr lang="en-US" b="1" dirty="0"/>
              <a:t>Music in the AI Era</a:t>
            </a:r>
            <a:r>
              <a:rPr lang="en-US" dirty="0"/>
              <a:t> (pp. 267–281). Springer International Publishing.</a:t>
            </a:r>
          </a:p>
          <a:p>
            <a:pPr marL="0" indent="0">
              <a:buNone/>
            </a:pPr>
            <a:r>
              <a:rPr lang="en-US" dirty="0" err="1"/>
              <a:t>Assayag</a:t>
            </a:r>
            <a:r>
              <a:rPr lang="en-US" dirty="0"/>
              <a:t>, G., Rueda, C., </a:t>
            </a:r>
            <a:r>
              <a:rPr lang="en-US" dirty="0" err="1"/>
              <a:t>Laurson</a:t>
            </a:r>
            <a:r>
              <a:rPr lang="en-US" dirty="0"/>
              <a:t>, M., Agon, C. &amp; </a:t>
            </a:r>
            <a:r>
              <a:rPr lang="en-US" dirty="0" err="1"/>
              <a:t>Delerue</a:t>
            </a:r>
            <a:r>
              <a:rPr lang="en-US" dirty="0"/>
              <a:t>, O. (1999). “Computer-assisted composition at IRCAM: From patchwork to </a:t>
            </a:r>
            <a:r>
              <a:rPr lang="en-US" dirty="0" err="1"/>
              <a:t>OpenMusic</a:t>
            </a:r>
            <a:r>
              <a:rPr lang="en-US" dirty="0"/>
              <a:t>.” </a:t>
            </a:r>
            <a:r>
              <a:rPr lang="en-US" i="1" dirty="0"/>
              <a:t>Computer Music Journal</a:t>
            </a:r>
            <a:r>
              <a:rPr lang="en-US" dirty="0"/>
              <a:t>, 23(3), 59–72.</a:t>
            </a:r>
          </a:p>
          <a:p>
            <a:pPr marL="0" indent="0">
              <a:buNone/>
            </a:pPr>
            <a:r>
              <a:rPr lang="en-US" dirty="0"/>
              <a:t>Berry, W. (1987). </a:t>
            </a:r>
            <a:r>
              <a:rPr lang="en-US" i="1" dirty="0"/>
              <a:t>Structural Functions in Music</a:t>
            </a:r>
            <a:r>
              <a:rPr lang="en-US" dirty="0"/>
              <a:t>. Dover, New York.</a:t>
            </a:r>
          </a:p>
          <a:p>
            <a:pPr marL="0" indent="0">
              <a:buNone/>
            </a:pPr>
            <a:r>
              <a:rPr lang="en-US" dirty="0"/>
              <a:t>Boden, M. A. (2004). </a:t>
            </a:r>
            <a:r>
              <a:rPr lang="en-US" i="1" dirty="0"/>
              <a:t>The Creative Mind: Myths and Mechanisms</a:t>
            </a:r>
            <a:r>
              <a:rPr lang="en-US" dirty="0"/>
              <a:t>. Routledge.</a:t>
            </a:r>
          </a:p>
          <a:p>
            <a:pPr marL="0" indent="0">
              <a:buNone/>
            </a:pPr>
            <a:r>
              <a:rPr lang="en-US" dirty="0" err="1"/>
              <a:t>Cella</a:t>
            </a:r>
            <a:r>
              <a:rPr lang="en-US" dirty="0"/>
              <a:t>, C.-E. (2022). “</a:t>
            </a:r>
            <a:r>
              <a:rPr lang="en-US" dirty="0" err="1"/>
              <a:t>Orchidea</a:t>
            </a:r>
            <a:r>
              <a:rPr lang="en-US" dirty="0"/>
              <a:t>: A comprehensive framework for target-based computer-assisted dynamic orchestration.” </a:t>
            </a:r>
            <a:r>
              <a:rPr lang="en-US" i="1" dirty="0"/>
              <a:t>Journal of New Music Research</a:t>
            </a:r>
            <a:r>
              <a:rPr lang="en-US" dirty="0"/>
              <a:t>, 51(1), 40–68.</a:t>
            </a:r>
          </a:p>
          <a:p>
            <a:pPr marL="0" indent="0">
              <a:buNone/>
            </a:pPr>
            <a:r>
              <a:rPr lang="en-US" dirty="0"/>
              <a:t>Deng, Q., Yang, Q., Yuan, R., Huang, Y., Wang, Y., Liu, X., Tian, Z., Pan, J., Zhang, G., Lin, H., Li, Y., Ma, Y., Fu, J., Lin, C., </a:t>
            </a:r>
            <a:r>
              <a:rPr lang="en-US" dirty="0" err="1"/>
              <a:t>Benetos</a:t>
            </a:r>
            <a:r>
              <a:rPr lang="en-US" dirty="0"/>
              <a:t>, E., Wang, W., Xia, G., Xue, W. &amp; Guo, Y. (2024). “</a:t>
            </a:r>
            <a:r>
              <a:rPr lang="en-US" dirty="0" err="1"/>
              <a:t>ComposerX</a:t>
            </a:r>
            <a:r>
              <a:rPr lang="en-US" dirty="0"/>
              <a:t>: Multi-agent symbolic music composition with LLMs.”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arXiv:2404.18081.</a:t>
            </a:r>
          </a:p>
          <a:p>
            <a:pPr marL="0" indent="0">
              <a:buNone/>
            </a:pPr>
            <a:r>
              <a:rPr lang="en-US" dirty="0" err="1"/>
              <a:t>Esling</a:t>
            </a:r>
            <a:r>
              <a:rPr lang="en-US" dirty="0"/>
              <a:t>, P., </a:t>
            </a:r>
            <a:r>
              <a:rPr lang="en-US" dirty="0" err="1"/>
              <a:t>Chemla</a:t>
            </a:r>
            <a:r>
              <a:rPr lang="en-US" dirty="0"/>
              <a:t>, A., Santos, R. &amp; </a:t>
            </a:r>
            <a:r>
              <a:rPr lang="en-US" dirty="0" err="1"/>
              <a:t>Bitton</a:t>
            </a:r>
            <a:r>
              <a:rPr lang="en-US" dirty="0"/>
              <a:t>, A. (2018). “Generative timbre spaces: Regularizing variational auto-encoders with perceptual metrics.”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arXiv:1805.08501.</a:t>
            </a:r>
          </a:p>
          <a:p>
            <a:pPr marL="0" indent="0">
              <a:buNone/>
            </a:pPr>
            <a:r>
              <a:rPr lang="en-US" dirty="0" err="1"/>
              <a:t>Locatello</a:t>
            </a:r>
            <a:r>
              <a:rPr lang="en-US" dirty="0"/>
              <a:t>, F., Bauer, S., </a:t>
            </a:r>
            <a:r>
              <a:rPr lang="en-US" dirty="0" err="1"/>
              <a:t>Lucic</a:t>
            </a:r>
            <a:r>
              <a:rPr lang="en-US" dirty="0"/>
              <a:t>, M., </a:t>
            </a:r>
            <a:r>
              <a:rPr lang="en-US" dirty="0" err="1"/>
              <a:t>Raetsch</a:t>
            </a:r>
            <a:r>
              <a:rPr lang="en-US" dirty="0"/>
              <a:t>, G., </a:t>
            </a:r>
            <a:r>
              <a:rPr lang="en-US" dirty="0" err="1"/>
              <a:t>Gelly</a:t>
            </a:r>
            <a:r>
              <a:rPr lang="en-US" dirty="0"/>
              <a:t>, S., </a:t>
            </a:r>
            <a:r>
              <a:rPr lang="en-US" dirty="0" err="1"/>
              <a:t>Schölkopf</a:t>
            </a:r>
            <a:r>
              <a:rPr lang="en-US" dirty="0"/>
              <a:t>, B. &amp; </a:t>
            </a:r>
            <a:r>
              <a:rPr lang="en-US" dirty="0" err="1"/>
              <a:t>Bachem</a:t>
            </a:r>
            <a:r>
              <a:rPr lang="en-US" dirty="0"/>
              <a:t>, O. (2019). “Challenging common assumptions in the unsupervised learning of disentangled representations.”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arXiv:1811.12359.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529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E0A4-FCFA-E6B9-DD84-F037B7C5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D77D-A7C6-58BA-4AC2-1CE3CEFA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47" y="224543"/>
            <a:ext cx="7511473" cy="41839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Bibliographie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7DF1-19CD-C4FA-95E7-40A5D8A1B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47" y="875035"/>
            <a:ext cx="8639977" cy="575842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spcBef>
                <a:spcPts val="1224"/>
              </a:spcBef>
              <a:spcAft>
                <a:spcPts val="900"/>
              </a:spcAft>
              <a:buNone/>
            </a:pPr>
            <a:r>
              <a:rPr lang="en-US" dirty="0" err="1"/>
              <a:t>Pasquier</a:t>
            </a:r>
            <a:r>
              <a:rPr lang="en-US" dirty="0"/>
              <a:t>, P., Ens, J., </a:t>
            </a:r>
            <a:r>
              <a:rPr lang="en-US" dirty="0" err="1"/>
              <a:t>Fradet</a:t>
            </a:r>
            <a:r>
              <a:rPr lang="en-US" dirty="0"/>
              <a:t>, N., </a:t>
            </a:r>
            <a:r>
              <a:rPr lang="en-US" dirty="0" err="1"/>
              <a:t>Triana</a:t>
            </a:r>
            <a:r>
              <a:rPr lang="en-US" dirty="0"/>
              <a:t>, P., </a:t>
            </a:r>
            <a:r>
              <a:rPr lang="en-US" dirty="0" err="1"/>
              <a:t>Rizzotti</a:t>
            </a:r>
            <a:r>
              <a:rPr lang="en-US" dirty="0"/>
              <a:t>, D., Rolland, J.-B. &amp; Safi, M. (2025). “MIDI-GPT: A controllable generative model for computer-assisted multitrack music composition.”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arXiv:2501.17011. 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/>
              <a:t>Roche, F., </a:t>
            </a:r>
            <a:r>
              <a:rPr lang="en-US" dirty="0" err="1"/>
              <a:t>Hueber</a:t>
            </a:r>
            <a:r>
              <a:rPr lang="en-US" dirty="0"/>
              <a:t>, T., Garnier, M., Limier, S. &amp; </a:t>
            </a:r>
            <a:r>
              <a:rPr lang="en-US" dirty="0" err="1"/>
              <a:t>Girin</a:t>
            </a:r>
            <a:r>
              <a:rPr lang="en-US" dirty="0"/>
              <a:t>, L. (2021). “Make that sound more metallic: Towards a perceptually relevant control of the timbre of synthesizer sounds using a variational autoencoder.” </a:t>
            </a:r>
            <a:r>
              <a:rPr lang="en-US" i="1" dirty="0"/>
              <a:t>TISMIR</a:t>
            </a:r>
            <a:r>
              <a:rPr lang="en-US" dirty="0"/>
              <a:t>, 4, 52–66.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/>
              <a:t>Simon, I., Roberts, A., </a:t>
            </a:r>
            <a:r>
              <a:rPr lang="en-US" dirty="0" err="1"/>
              <a:t>Raffel</a:t>
            </a:r>
            <a:r>
              <a:rPr lang="en-US" dirty="0"/>
              <a:t>, C., Engel, J., Hawthorne, C. &amp; Eck, D. (2018). “Learning a latent space of multitrack measures.”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arXiv:1806.00195.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 err="1"/>
              <a:t>Tchemeube</a:t>
            </a:r>
            <a:r>
              <a:rPr lang="en-US" dirty="0"/>
              <a:t>, R. B., Ens, J., </a:t>
            </a:r>
            <a:r>
              <a:rPr lang="en-US" dirty="0" err="1"/>
              <a:t>Plut</a:t>
            </a:r>
            <a:r>
              <a:rPr lang="en-US" dirty="0"/>
              <a:t>, C., </a:t>
            </a:r>
            <a:r>
              <a:rPr lang="en-US" dirty="0" err="1"/>
              <a:t>Pasquier</a:t>
            </a:r>
            <a:r>
              <a:rPr lang="en-US" dirty="0"/>
              <a:t>, P., Safi, M., </a:t>
            </a:r>
            <a:r>
              <a:rPr lang="en-US" dirty="0" err="1"/>
              <a:t>Grabit</a:t>
            </a:r>
            <a:r>
              <a:rPr lang="en-US" dirty="0"/>
              <a:t>, Y. &amp; Rolland, J.-B. (2025). “Evaluating human-AI interaction via usability, user experience and acceptance measures for MMM-C: A creative AI system for music composition.” </a:t>
            </a:r>
            <a:r>
              <a:rPr lang="en-US" i="1" dirty="0" err="1"/>
              <a:t>arXiv</a:t>
            </a:r>
            <a:r>
              <a:rPr lang="en-US" i="1" dirty="0"/>
              <a:t> preprint</a:t>
            </a:r>
            <a:r>
              <a:rPr lang="en-US" dirty="0"/>
              <a:t> arXiv:2504.14071.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 err="1"/>
              <a:t>Turker</a:t>
            </a:r>
            <a:r>
              <a:rPr lang="en-US" dirty="0"/>
              <a:t>, M., </a:t>
            </a:r>
            <a:r>
              <a:rPr lang="en-US" dirty="0" err="1"/>
              <a:t>Dirik</a:t>
            </a:r>
            <a:r>
              <a:rPr lang="en-US" dirty="0"/>
              <a:t>, A. &amp; </a:t>
            </a:r>
            <a:r>
              <a:rPr lang="en-US" dirty="0" err="1"/>
              <a:t>Yanardag</a:t>
            </a:r>
            <a:r>
              <a:rPr lang="en-US" dirty="0"/>
              <a:t>, P. (2022). “</a:t>
            </a:r>
            <a:r>
              <a:rPr lang="en-US" dirty="0" err="1"/>
              <a:t>MIDISpace</a:t>
            </a:r>
            <a:r>
              <a:rPr lang="en-US" dirty="0"/>
              <a:t>: Finding linear directions in latent space for music generation.” In </a:t>
            </a:r>
            <a:r>
              <a:rPr lang="en-US" i="1" dirty="0"/>
              <a:t>Proceedings of the Creativity and Cognition Conference</a:t>
            </a:r>
            <a:r>
              <a:rPr lang="en-US" dirty="0"/>
              <a:t> (CI&amp;C ’22), Venice, Italy. ACM.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/>
              <a:t>Wang, Z., Wang, D., Zhang, Y. &amp; Xia, G. (2020). “Learning interpretable representation for controllable polyphonic music generation.” In </a:t>
            </a:r>
            <a:r>
              <a:rPr lang="en-US" i="1" dirty="0"/>
              <a:t>Proceedings of ISMIR 2020</a:t>
            </a:r>
            <a:r>
              <a:rPr lang="en-US" dirty="0"/>
              <a:t>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dirty="0"/>
              <a:t>Xenakis, I. (1992). </a:t>
            </a:r>
            <a:r>
              <a:rPr lang="en-US" i="1" dirty="0"/>
              <a:t>Formalized Music: Thought and Mathematics in Composition</a:t>
            </a:r>
            <a:r>
              <a:rPr lang="en-US" dirty="0"/>
              <a:t>. Pendragon Press.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63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F6CB-4327-02A9-E716-3B8669FC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vy staircases">
            <a:extLst>
              <a:ext uri="{FF2B5EF4-FFF2-40B4-BE49-F238E27FC236}">
                <a16:creationId xmlns:a16="http://schemas.microsoft.com/office/drawing/2014/main" id="{4E4CC426-4586-2708-581F-104DA39E8B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C55C5-F0B8-1FCB-A832-A9B6796A4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259" y="609601"/>
            <a:ext cx="6507166" cy="32004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i="1" dirty="0"/>
              <a:t>TEMA-S</a:t>
            </a:r>
            <a:r>
              <a:rPr lang="en-US" dirty="0"/>
              <a:t>: Prototype of a Texture-based Environment for Assisted Symbolic Musical Composition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0BD83-D31D-44A0-F260-BD8655DF4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259" y="3886200"/>
            <a:ext cx="6507166" cy="1905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500" b="1" dirty="0"/>
              <a:t>CANDIDATE</a:t>
            </a:r>
            <a:r>
              <a:rPr lang="en-US" sz="1500" dirty="0"/>
              <a:t>: Dr. MICAEL ANTUNES DA SILVA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SUPERVISOR 1</a:t>
            </a:r>
            <a:r>
              <a:rPr lang="en-US" sz="1500" dirty="0"/>
              <a:t>: Prof. Dr. Ricard Marxer (LIS - UMR 7020)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SUPERVISOR 2</a:t>
            </a:r>
            <a:r>
              <a:rPr lang="en-US" sz="1500" dirty="0"/>
              <a:t>:  Prof. Dr. Vincent </a:t>
            </a:r>
            <a:r>
              <a:rPr lang="en-US" sz="1500" dirty="0" err="1"/>
              <a:t>Tiffon</a:t>
            </a:r>
            <a:r>
              <a:rPr lang="en-US" sz="1500" dirty="0"/>
              <a:t> (PRISM - UMR 7061)</a:t>
            </a:r>
          </a:p>
          <a:p>
            <a:pPr>
              <a:lnSpc>
                <a:spcPct val="90000"/>
              </a:lnSpc>
            </a:pPr>
            <a:r>
              <a:rPr lang="en-US" sz="1500" b="1" dirty="0" err="1"/>
              <a:t>InCIAM's</a:t>
            </a:r>
            <a:r>
              <a:rPr lang="en-US" sz="1500" b="1" dirty="0"/>
              <a:t> research axis concerned</a:t>
            </a:r>
            <a:r>
              <a:rPr lang="en-US" sz="1500" dirty="0"/>
              <a:t>: 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1 -</a:t>
            </a:r>
            <a:r>
              <a:rPr lang="en-US" sz="1500" dirty="0"/>
              <a:t> Creativity and innovation process; </a:t>
            </a:r>
            <a:r>
              <a:rPr lang="en-US" sz="1500" b="1" dirty="0"/>
              <a:t>1.2</a:t>
            </a:r>
            <a:r>
              <a:rPr lang="en-US" sz="1500" dirty="0"/>
              <a:t> - Understanding and assisting the creative and innovation process; </a:t>
            </a:r>
            <a:r>
              <a:rPr lang="en-US" sz="1500" b="1" dirty="0"/>
              <a:t>1.3</a:t>
            </a:r>
            <a:r>
              <a:rPr lang="en-US" sz="1500" dirty="0"/>
              <a:t> - Analysis and support for creative and cultural industries</a:t>
            </a:r>
          </a:p>
        </p:txBody>
      </p:sp>
    </p:spTree>
    <p:extLst>
      <p:ext uri="{BB962C8B-B14F-4D97-AF65-F5344CB8AC3E}">
        <p14:creationId xmlns:p14="http://schemas.microsoft.com/office/powerpoint/2010/main" val="1713840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4969</TotalTime>
  <Words>1789</Words>
  <Application>Microsoft Macintosh PowerPoint</Application>
  <PresentationFormat>On-screen Show (4:3)</PresentationFormat>
  <Paragraphs>153</Paragraphs>
  <Slides>37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Century Gothic</vt:lpstr>
      <vt:lpstr>Mesh</vt:lpstr>
      <vt:lpstr> TEMA-S: Prototype of a Texture-based Environment for Assisted Symbolic Musical Composition</vt:lpstr>
      <vt:lpstr>Le contexte</vt:lpstr>
      <vt:lpstr>Deux approches de composition assistée par ordinateur</vt:lpstr>
      <vt:lpstr>Limites des modèles basés sur les Large Language models (LLM) </vt:lpstr>
      <vt:lpstr>Une alternative complémentaire  </vt:lpstr>
      <vt:lpstr>TEMA-S – Textural-based environment for symbolic music assitance</vt:lpstr>
      <vt:lpstr>TEMA-S – Textural-based environment for symbolic music assitance</vt:lpstr>
      <vt:lpstr>Le Cadre conceptuel</vt:lpstr>
      <vt:lpstr>PowerPoint Presentation</vt:lpstr>
      <vt:lpstr>PowerPoint Presentation</vt:lpstr>
      <vt:lpstr>Score-based CAC</vt:lpstr>
      <vt:lpstr>PowerPoint Presentation</vt:lpstr>
      <vt:lpstr>l’interprétabilité des dimensions musicales</vt:lpstr>
      <vt:lpstr>VAE - autoencodeurs variationnels</vt:lpstr>
      <vt:lpstr>les biais inductifs - Wang et al. (2020) </vt:lpstr>
      <vt:lpstr>PowerPoint Presentation</vt:lpstr>
      <vt:lpstr>Qu’est-ce qu’une texture musicale ?</vt:lpstr>
      <vt:lpstr>Taxonomie des textures</vt:lpstr>
      <vt:lpstr>PowerPoint Presentation</vt:lpstr>
      <vt:lpstr>créativité comme exploration d’espace (Boden, 2004)</vt:lpstr>
      <vt:lpstr>TEMA-S et la composition </vt:lpstr>
      <vt:lpstr>Objectifs</vt:lpstr>
      <vt:lpstr>demo</vt:lpstr>
      <vt:lpstr>Fonctionnel architecture of tema-s</vt:lpstr>
      <vt:lpstr>Défi créatif : faire dialoguer deux mondes musicaux</vt:lpstr>
      <vt:lpstr>Défi créatif : faire dialoguer deux mondes musicaux</vt:lpstr>
      <vt:lpstr>Défi créatif : faire dialoguer deux mondes musicaux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Bibliographie</vt:lpstr>
      <vt:lpstr>Bibliographie</vt:lpstr>
      <vt:lpstr> TEMA-S: Prototype of a Texture-based Environment for Assisted Symbolic Musical Composition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Micael Antunes da Silva</cp:lastModifiedBy>
  <cp:revision>40</cp:revision>
  <dcterms:created xsi:type="dcterms:W3CDTF">2013-01-27T09:14:16Z</dcterms:created>
  <dcterms:modified xsi:type="dcterms:W3CDTF">2025-12-08T06:16:12Z</dcterms:modified>
  <cp:category/>
</cp:coreProperties>
</file>